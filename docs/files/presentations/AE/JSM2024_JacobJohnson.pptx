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25"/>
  </p:notesMasterIdLst>
  <p:sldIdLst>
    <p:sldId id="268" r:id="rId2"/>
    <p:sldId id="257" r:id="rId3"/>
    <p:sldId id="281" r:id="rId4"/>
    <p:sldId id="258" r:id="rId5"/>
    <p:sldId id="291" r:id="rId6"/>
    <p:sldId id="298" r:id="rId7"/>
    <p:sldId id="299" r:id="rId8"/>
    <p:sldId id="300" r:id="rId9"/>
    <p:sldId id="301" r:id="rId10"/>
    <p:sldId id="302" r:id="rId11"/>
    <p:sldId id="284" r:id="rId12"/>
    <p:sldId id="303" r:id="rId13"/>
    <p:sldId id="269" r:id="rId14"/>
    <p:sldId id="260" r:id="rId15"/>
    <p:sldId id="292" r:id="rId16"/>
    <p:sldId id="261" r:id="rId17"/>
    <p:sldId id="263" r:id="rId18"/>
    <p:sldId id="266" r:id="rId19"/>
    <p:sldId id="294" r:id="rId20"/>
    <p:sldId id="264" r:id="rId21"/>
    <p:sldId id="293" r:id="rId22"/>
    <p:sldId id="282" r:id="rId23"/>
    <p:sldId id="283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F750B"/>
    <a:srgbClr val="F89006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3935" autoAdjust="0"/>
  </p:normalViewPr>
  <p:slideViewPr>
    <p:cSldViewPr snapToGrid="0">
      <p:cViewPr varScale="1">
        <p:scale>
          <a:sx n="89" d="100"/>
          <a:sy n="89" d="100"/>
        </p:scale>
        <p:origin x="619" y="86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F45810-8452-4621-835B-F7CE99726981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4A1CE7-9093-46E2-8098-89ACE9D11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402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4A1CE7-9093-46E2-8098-89ACE9D11ED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4155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Roughly 64 to 84 Longitude (63.625 to 8.875) East</a:t>
            </a:r>
          </a:p>
          <a:p>
            <a:r>
              <a:rPr lang="en-US" dirty="0"/>
              <a:t>Roughly 27 to 40 Latitude (26.875, 39.875) North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4A1CE7-9093-46E2-8098-89ACE9D11ED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5065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4A1CE7-9093-46E2-8098-89ACE9D11ED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231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4A1CE7-9093-46E2-8098-89ACE9D11ED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2950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Consensus – Other Approach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4A1CE7-9093-46E2-8098-89ACE9D11ED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08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F7403A87-2000-4664-9A5D-23113F72070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0B33B83B-28BE-4835-B2D1-7A0AF00C2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920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03A87-2000-4664-9A5D-23113F72070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3B83B-28BE-4835-B2D1-7A0AF00C2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00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03A87-2000-4664-9A5D-23113F72070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3B83B-28BE-4835-B2D1-7A0AF00C2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146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03A87-2000-4664-9A5D-23113F72070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3B83B-28BE-4835-B2D1-7A0AF00C2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869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03A87-2000-4664-9A5D-23113F72070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3B83B-28BE-4835-B2D1-7A0AF00C2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965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03A87-2000-4664-9A5D-23113F72070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3B83B-28BE-4835-B2D1-7A0AF00C2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33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03A87-2000-4664-9A5D-23113F72070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3B83B-28BE-4835-B2D1-7A0AF00C2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479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03A87-2000-4664-9A5D-23113F72070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3B83B-28BE-4835-B2D1-7A0AF00C2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554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03A87-2000-4664-9A5D-23113F72070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3B83B-28BE-4835-B2D1-7A0AF00C2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509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03A87-2000-4664-9A5D-23113F72070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3B83B-28BE-4835-B2D1-7A0AF00C2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21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03A87-2000-4664-9A5D-23113F72070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3B83B-28BE-4835-B2D1-7A0AF00C2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8427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03A87-2000-4664-9A5D-23113F72070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3B83B-28BE-4835-B2D1-7A0AF00C238E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593941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03A87-2000-4664-9A5D-23113F72070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3B83B-28BE-4835-B2D1-7A0AF00C2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5267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03A87-2000-4664-9A5D-23113F72070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3B83B-28BE-4835-B2D1-7A0AF00C2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2267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03A87-2000-4664-9A5D-23113F72070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3B83B-28BE-4835-B2D1-7A0AF00C2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3061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03A87-2000-4664-9A5D-23113F72070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3B83B-28BE-4835-B2D1-7A0AF00C2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0294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03A87-2000-4664-9A5D-23113F72070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3B83B-28BE-4835-B2D1-7A0AF00C2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571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403A87-2000-4664-9A5D-23113F72070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33B83B-28BE-4835-B2D1-7A0AF00C2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4390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G"/><Relationship Id="rId3" Type="http://schemas.openxmlformats.org/officeDocument/2006/relationships/image" Target="../media/image18.JPG"/><Relationship Id="rId7" Type="http://schemas.openxmlformats.org/officeDocument/2006/relationships/image" Target="../media/image22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JPG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G"/><Relationship Id="rId3" Type="http://schemas.openxmlformats.org/officeDocument/2006/relationships/image" Target="../media/image18.JPG"/><Relationship Id="rId7" Type="http://schemas.openxmlformats.org/officeDocument/2006/relationships/image" Target="../media/image24.jpe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10" Type="http://schemas.openxmlformats.org/officeDocument/2006/relationships/image" Target="../media/image21.JPG"/><Relationship Id="rId4" Type="http://schemas.openxmlformats.org/officeDocument/2006/relationships/image" Target="../media/image19.JPG"/><Relationship Id="rId9" Type="http://schemas.openxmlformats.org/officeDocument/2006/relationships/image" Target="../media/image20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JPG"/><Relationship Id="rId11" Type="http://schemas.openxmlformats.org/officeDocument/2006/relationships/image" Target="../media/image21.JPG"/><Relationship Id="rId5" Type="http://schemas.openxmlformats.org/officeDocument/2006/relationships/image" Target="../media/image22.JPG"/><Relationship Id="rId10" Type="http://schemas.openxmlformats.org/officeDocument/2006/relationships/image" Target="../media/image20.JPG"/><Relationship Id="rId4" Type="http://schemas.openxmlformats.org/officeDocument/2006/relationships/image" Target="../media/image19.JP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G"/><Relationship Id="rId3" Type="http://schemas.openxmlformats.org/officeDocument/2006/relationships/image" Target="../media/image18.JPG"/><Relationship Id="rId7" Type="http://schemas.openxmlformats.org/officeDocument/2006/relationships/image" Target="../media/image16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4" Type="http://schemas.openxmlformats.org/officeDocument/2006/relationships/image" Target="../media/image19.JPG"/><Relationship Id="rId9" Type="http://schemas.openxmlformats.org/officeDocument/2006/relationships/image" Target="../media/image21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G"/><Relationship Id="rId3" Type="http://schemas.openxmlformats.org/officeDocument/2006/relationships/image" Target="../media/image18.JPG"/><Relationship Id="rId7" Type="http://schemas.openxmlformats.org/officeDocument/2006/relationships/image" Target="../media/image16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4" Type="http://schemas.openxmlformats.org/officeDocument/2006/relationships/image" Target="../media/image19.JPG"/><Relationship Id="rId9" Type="http://schemas.openxmlformats.org/officeDocument/2006/relationships/image" Target="../media/image21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18.JPG"/><Relationship Id="rId12" Type="http://schemas.openxmlformats.org/officeDocument/2006/relationships/image" Target="../media/image27.jpe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7.JPG"/><Relationship Id="rId11" Type="http://schemas.openxmlformats.org/officeDocument/2006/relationships/image" Target="../media/image26.png"/><Relationship Id="rId5" Type="http://schemas.openxmlformats.org/officeDocument/2006/relationships/image" Target="../media/image21.JPG"/><Relationship Id="rId10" Type="http://schemas.openxmlformats.org/officeDocument/2006/relationships/image" Target="../media/image23.JPG"/><Relationship Id="rId4" Type="http://schemas.openxmlformats.org/officeDocument/2006/relationships/image" Target="../media/image20.JPG"/><Relationship Id="rId9" Type="http://schemas.openxmlformats.org/officeDocument/2006/relationships/image" Target="../media/image2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JPG"/><Relationship Id="rId11" Type="http://schemas.openxmlformats.org/officeDocument/2006/relationships/image" Target="../media/image21.JPG"/><Relationship Id="rId5" Type="http://schemas.openxmlformats.org/officeDocument/2006/relationships/image" Target="../media/image22.JPG"/><Relationship Id="rId10" Type="http://schemas.openxmlformats.org/officeDocument/2006/relationships/image" Target="../media/image20.JPG"/><Relationship Id="rId4" Type="http://schemas.openxmlformats.org/officeDocument/2006/relationships/image" Target="../media/image19.JPG"/><Relationship Id="rId9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3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3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jp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image" Target="../media/image35.jpeg"/><Relationship Id="rId7" Type="http://schemas.openxmlformats.org/officeDocument/2006/relationships/image" Target="../media/image160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jpeg"/><Relationship Id="rId5" Type="http://schemas.openxmlformats.org/officeDocument/2006/relationships/image" Target="../media/image39.jpeg"/><Relationship Id="rId4" Type="http://schemas.openxmlformats.org/officeDocument/2006/relationships/image" Target="../media/image47.jpeg"/><Relationship Id="rId9" Type="http://schemas.openxmlformats.org/officeDocument/2006/relationships/image" Target="../media/image1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9036903-A4EA-3D8C-7BBA-4480CFBFDC94}"/>
              </a:ext>
            </a:extLst>
          </p:cNvPr>
          <p:cNvSpPr txBox="1">
            <a:spLocks/>
          </p:cNvSpPr>
          <p:nvPr/>
        </p:nvSpPr>
        <p:spPr>
          <a:xfrm>
            <a:off x="1115385" y="458642"/>
            <a:ext cx="10611393" cy="2992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200" dirty="0">
                <a:solidFill>
                  <a:schemeClr val="bg2"/>
                </a:solidFill>
              </a:rPr>
              <a:t>Fusing Climate Data Products using a Spatially Varying</a:t>
            </a:r>
          </a:p>
          <a:p>
            <a:r>
              <a:rPr lang="en-US" sz="6200" dirty="0">
                <a:solidFill>
                  <a:schemeClr val="bg2"/>
                </a:solidFill>
              </a:rPr>
              <a:t>Autoencoder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2F69E15-8201-5007-C2D5-7A96638E1C62}"/>
              </a:ext>
            </a:extLst>
          </p:cNvPr>
          <p:cNvSpPr txBox="1">
            <a:spLocks/>
          </p:cNvSpPr>
          <p:nvPr/>
        </p:nvSpPr>
        <p:spPr>
          <a:xfrm>
            <a:off x="790301" y="3398520"/>
            <a:ext cx="10611393" cy="130747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dirty="0">
                <a:solidFill>
                  <a:schemeClr val="bg2"/>
                </a:solidFill>
              </a:rPr>
              <a:t>Jacob Johnson</a:t>
            </a:r>
            <a:r>
              <a:rPr lang="en-US" sz="2800" baseline="30000" dirty="0">
                <a:solidFill>
                  <a:schemeClr val="bg2"/>
                </a:solidFill>
              </a:rPr>
              <a:t>1</a:t>
            </a:r>
            <a:r>
              <a:rPr lang="en-US" sz="2800" dirty="0">
                <a:solidFill>
                  <a:schemeClr val="bg2"/>
                </a:solidFill>
              </a:rPr>
              <a:t>, Matthew Heaton</a:t>
            </a:r>
            <a:r>
              <a:rPr lang="en-US" sz="2800" baseline="30000" dirty="0">
                <a:solidFill>
                  <a:schemeClr val="bg2"/>
                </a:solidFill>
              </a:rPr>
              <a:t>1</a:t>
            </a:r>
            <a:r>
              <a:rPr lang="en-US" sz="2800" dirty="0">
                <a:solidFill>
                  <a:schemeClr val="bg2"/>
                </a:solidFill>
              </a:rPr>
              <a:t>, William Christensen</a:t>
            </a:r>
            <a:r>
              <a:rPr lang="en-US" sz="2800" baseline="30000" dirty="0">
                <a:solidFill>
                  <a:schemeClr val="bg2"/>
                </a:solidFill>
              </a:rPr>
              <a:t>1</a:t>
            </a:r>
            <a:r>
              <a:rPr lang="en-US" sz="2800" dirty="0">
                <a:solidFill>
                  <a:schemeClr val="bg2"/>
                </a:solidFill>
              </a:rPr>
              <a:t>, </a:t>
            </a:r>
            <a:r>
              <a:rPr lang="en-US" sz="2800" dirty="0" err="1"/>
              <a:t>Lynsie</a:t>
            </a:r>
            <a:r>
              <a:rPr lang="en-US" sz="2800" dirty="0"/>
              <a:t> Warr</a:t>
            </a:r>
            <a:r>
              <a:rPr lang="en-US" sz="2800" baseline="30000" dirty="0"/>
              <a:t>2</a:t>
            </a:r>
            <a:r>
              <a:rPr lang="en-US" sz="2800" dirty="0"/>
              <a:t>, </a:t>
            </a:r>
            <a:r>
              <a:rPr lang="en-US" sz="2800" dirty="0">
                <a:solidFill>
                  <a:schemeClr val="bg2"/>
                </a:solidFill>
              </a:rPr>
              <a:t>Summer Rupper</a:t>
            </a:r>
            <a:r>
              <a:rPr lang="en-US" sz="2800" baseline="30000" dirty="0">
                <a:solidFill>
                  <a:schemeClr val="bg2"/>
                </a:solidFill>
              </a:rPr>
              <a:t>3</a:t>
            </a:r>
            <a:endParaRPr lang="en-US" sz="2800" dirty="0">
              <a:solidFill>
                <a:schemeClr val="bg2"/>
              </a:solidFill>
            </a:endParaRPr>
          </a:p>
          <a:p>
            <a:pPr marL="0" indent="0" algn="ctr">
              <a:buNone/>
            </a:pPr>
            <a:r>
              <a:rPr lang="en-US" baseline="30000" dirty="0">
                <a:solidFill>
                  <a:schemeClr val="bg2"/>
                </a:solidFill>
              </a:rPr>
              <a:t>1</a:t>
            </a:r>
            <a:r>
              <a:rPr lang="en-US" b="0" i="0" dirty="0">
                <a:effectLst/>
              </a:rPr>
              <a:t>Brigham Young University; </a:t>
            </a:r>
            <a:r>
              <a:rPr lang="en-US" b="0" i="0" baseline="30000" dirty="0">
                <a:effectLst/>
              </a:rPr>
              <a:t>2</a:t>
            </a:r>
            <a:r>
              <a:rPr lang="en-US" sz="2400" dirty="0"/>
              <a:t>University of California – Irvine; </a:t>
            </a:r>
            <a:r>
              <a:rPr lang="en-US" b="0" i="0" baseline="30000" dirty="0">
                <a:solidFill>
                  <a:schemeClr val="bg2"/>
                </a:solidFill>
                <a:effectLst/>
              </a:rPr>
              <a:t>3</a:t>
            </a:r>
            <a:r>
              <a:rPr lang="en-US" b="0" i="0" dirty="0">
                <a:effectLst/>
              </a:rPr>
              <a:t>University of Utah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AE7708B-0BAB-4DB7-FFDE-11F128A84C33}"/>
              </a:ext>
            </a:extLst>
          </p:cNvPr>
          <p:cNvSpPr txBox="1">
            <a:spLocks/>
          </p:cNvSpPr>
          <p:nvPr/>
        </p:nvSpPr>
        <p:spPr>
          <a:xfrm>
            <a:off x="1411515" y="5380027"/>
            <a:ext cx="6988630" cy="10844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chemeClr val="bg2"/>
                </a:solidFill>
                <a:effectLst/>
              </a:rPr>
              <a:t>This material is based upon work supported by the National Aeronautics and Space Administration.</a:t>
            </a:r>
            <a:endParaRPr lang="en-US" sz="2200" dirty="0">
              <a:solidFill>
                <a:schemeClr val="bg2"/>
              </a:solidFill>
            </a:endParaRPr>
          </a:p>
        </p:txBody>
      </p:sp>
      <p:pic>
        <p:nvPicPr>
          <p:cNvPr id="1026" name="Picture 2" descr="Symbols of NASA | NASA">
            <a:extLst>
              <a:ext uri="{FF2B5EF4-FFF2-40B4-BE49-F238E27FC236}">
                <a16:creationId xmlns:a16="http://schemas.microsoft.com/office/drawing/2014/main" id="{E3859FF7-EF12-13F1-32A2-09A01CD57B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1265" y="4975537"/>
            <a:ext cx="3544460" cy="1772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9068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map of the world with a red square&#10;&#10;Description automatically generated">
            <a:extLst>
              <a:ext uri="{FF2B5EF4-FFF2-40B4-BE49-F238E27FC236}">
                <a16:creationId xmlns:a16="http://schemas.microsoft.com/office/drawing/2014/main" id="{1D62731D-CFFE-AD96-B54F-4B70438BEEE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32" t="5448" r="17111" b="9778"/>
          <a:stretch/>
        </p:blipFill>
        <p:spPr>
          <a:xfrm>
            <a:off x="3129626" y="1017905"/>
            <a:ext cx="6116320" cy="5813790"/>
          </a:xfrm>
          <a:prstGeom prst="rect">
            <a:avLst/>
          </a:prstGeom>
        </p:spPr>
      </p:pic>
      <p:pic>
        <p:nvPicPr>
          <p:cNvPr id="7" name="Picture 6" descr="A picture containing map, screenshot, text&#10;&#10;Description automatically generated">
            <a:extLst>
              <a:ext uri="{FF2B5EF4-FFF2-40B4-BE49-F238E27FC236}">
                <a16:creationId xmlns:a16="http://schemas.microsoft.com/office/drawing/2014/main" id="{53550B90-1B2F-A3EF-D8CB-858923E7DE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0186" y="946785"/>
            <a:ext cx="7315200" cy="5943600"/>
          </a:xfrm>
          <a:prstGeom prst="rect">
            <a:avLst/>
          </a:prstGeom>
        </p:spPr>
      </p:pic>
      <p:pic>
        <p:nvPicPr>
          <p:cNvPr id="12" name="Picture 11" descr="A picture containing painting, child art, art&#10;&#10;Description automatically generated">
            <a:extLst>
              <a:ext uri="{FF2B5EF4-FFF2-40B4-BE49-F238E27FC236}">
                <a16:creationId xmlns:a16="http://schemas.microsoft.com/office/drawing/2014/main" id="{D69B00A0-C8B4-C20D-8386-6BF77C48EF63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0186" y="946785"/>
            <a:ext cx="7315200" cy="5943600"/>
          </a:xfrm>
          <a:prstGeom prst="rect">
            <a:avLst/>
          </a:prstGeom>
        </p:spPr>
      </p:pic>
      <p:pic>
        <p:nvPicPr>
          <p:cNvPr id="22" name="Picture 21" descr="A picture containing map, painting&#10;&#10;Description automatically generated">
            <a:extLst>
              <a:ext uri="{FF2B5EF4-FFF2-40B4-BE49-F238E27FC236}">
                <a16:creationId xmlns:a16="http://schemas.microsoft.com/office/drawing/2014/main" id="{C0CB7894-610E-CD5B-328C-1EEAA71FEF3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0186" y="946785"/>
            <a:ext cx="7315200" cy="5943600"/>
          </a:xfrm>
          <a:prstGeom prst="rect">
            <a:avLst/>
          </a:prstGeom>
        </p:spPr>
      </p:pic>
      <p:pic>
        <p:nvPicPr>
          <p:cNvPr id="24" name="Picture 23" descr="A picture containing map&#10;&#10;Description automatically generated">
            <a:extLst>
              <a:ext uri="{FF2B5EF4-FFF2-40B4-BE49-F238E27FC236}">
                <a16:creationId xmlns:a16="http://schemas.microsoft.com/office/drawing/2014/main" id="{6CF9B86A-912D-670B-3111-12FB1C1FACC2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0186" y="946785"/>
            <a:ext cx="7315200" cy="5943600"/>
          </a:xfrm>
          <a:prstGeom prst="rect">
            <a:avLst/>
          </a:prstGeom>
        </p:spPr>
      </p:pic>
      <p:pic>
        <p:nvPicPr>
          <p:cNvPr id="26" name="Picture 25" descr="A picture containing map, screenshot, nature&#10;&#10;Description automatically generated">
            <a:extLst>
              <a:ext uri="{FF2B5EF4-FFF2-40B4-BE49-F238E27FC236}">
                <a16:creationId xmlns:a16="http://schemas.microsoft.com/office/drawing/2014/main" id="{D8121283-D000-BD64-951F-C7CB7BD9252B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0186" y="946785"/>
            <a:ext cx="7315200" cy="5943600"/>
          </a:xfrm>
          <a:prstGeom prst="rect">
            <a:avLst/>
          </a:prstGeom>
        </p:spPr>
      </p:pic>
      <p:pic>
        <p:nvPicPr>
          <p:cNvPr id="28" name="Picture 27" descr="A picture containing map, screenshot, nature&#10;&#10;Description automatically generated">
            <a:extLst>
              <a:ext uri="{FF2B5EF4-FFF2-40B4-BE49-F238E27FC236}">
                <a16:creationId xmlns:a16="http://schemas.microsoft.com/office/drawing/2014/main" id="{F7923A95-30E4-5134-4C54-A26839810724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0186" y="946785"/>
            <a:ext cx="7315200" cy="59436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E851A3F-38E5-FE5E-21B4-3F3DD080FC08}"/>
              </a:ext>
            </a:extLst>
          </p:cNvPr>
          <p:cNvSpPr txBox="1">
            <a:spLocks/>
          </p:cNvSpPr>
          <p:nvPr/>
        </p:nvSpPr>
        <p:spPr>
          <a:xfrm>
            <a:off x="1404936" y="234472"/>
            <a:ext cx="10515600" cy="9211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 dirty="0"/>
              <a:t>Data Description – APHRODITE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F3F84A-1559-62AF-4750-3681B2992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936" y="234472"/>
            <a:ext cx="10515600" cy="921169"/>
          </a:xfrm>
        </p:spPr>
        <p:txBody>
          <a:bodyPr>
            <a:normAutofit/>
          </a:bodyPr>
          <a:lstStyle/>
          <a:p>
            <a:r>
              <a:rPr lang="en-US" sz="3800" dirty="0"/>
              <a:t>Data Description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B194F73-33CF-403A-B29C-13CB9BEE0405}"/>
              </a:ext>
            </a:extLst>
          </p:cNvPr>
          <p:cNvSpPr txBox="1">
            <a:spLocks/>
          </p:cNvSpPr>
          <p:nvPr/>
        </p:nvSpPr>
        <p:spPr>
          <a:xfrm>
            <a:off x="1404936" y="234471"/>
            <a:ext cx="10515600" cy="9211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 dirty="0"/>
              <a:t>Data Description – ERA5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0AF7EB1-5DDF-C257-79D0-26BCE96F6959}"/>
              </a:ext>
            </a:extLst>
          </p:cNvPr>
          <p:cNvSpPr txBox="1">
            <a:spLocks/>
          </p:cNvSpPr>
          <p:nvPr/>
        </p:nvSpPr>
        <p:spPr>
          <a:xfrm>
            <a:off x="1404936" y="234471"/>
            <a:ext cx="10515600" cy="9211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 dirty="0"/>
              <a:t>Data Description – MERRA-2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928AF18-FFDE-F254-BCEF-57146E380DEA}"/>
              </a:ext>
            </a:extLst>
          </p:cNvPr>
          <p:cNvSpPr txBox="1">
            <a:spLocks/>
          </p:cNvSpPr>
          <p:nvPr/>
        </p:nvSpPr>
        <p:spPr>
          <a:xfrm>
            <a:off x="1404936" y="234471"/>
            <a:ext cx="10515600" cy="9211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 dirty="0"/>
              <a:t>Data Description –  TRMM</a:t>
            </a:r>
          </a:p>
        </p:txBody>
      </p:sp>
    </p:spTree>
    <p:extLst>
      <p:ext uri="{BB962C8B-B14F-4D97-AF65-F5344CB8AC3E}">
        <p14:creationId xmlns:p14="http://schemas.microsoft.com/office/powerpoint/2010/main" val="2039672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4" grpId="0"/>
      <p:bldP spid="5" grpId="0"/>
      <p:bldP spid="5" grpId="1"/>
      <p:bldP spid="6" grpId="0"/>
      <p:bldP spid="6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3F84A-1559-62AF-4750-3681B2992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936" y="234472"/>
            <a:ext cx="10515600" cy="921169"/>
          </a:xfrm>
        </p:spPr>
        <p:txBody>
          <a:bodyPr>
            <a:normAutofit/>
          </a:bodyPr>
          <a:lstStyle/>
          <a:p>
            <a:r>
              <a:rPr lang="en-US" sz="3800" dirty="0"/>
              <a:t>Data Description – July 2015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C495F677-DB27-FF99-5E52-3B9442EF94B8}"/>
              </a:ext>
            </a:extLst>
          </p:cNvPr>
          <p:cNvSpPr txBox="1">
            <a:spLocks/>
          </p:cNvSpPr>
          <p:nvPr/>
        </p:nvSpPr>
        <p:spPr>
          <a:xfrm>
            <a:off x="9978933" y="1286946"/>
            <a:ext cx="1693032" cy="218640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/>
              <a:t>TRMM</a:t>
            </a:r>
          </a:p>
          <a:p>
            <a:pPr marL="0" indent="0">
              <a:buNone/>
            </a:pPr>
            <a:r>
              <a:rPr lang="en-US" sz="2000" dirty="0"/>
              <a:t>Tropical Rainfall Measuring Mission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F661D5-B405-474B-09AA-081F20C217D6}"/>
              </a:ext>
            </a:extLst>
          </p:cNvPr>
          <p:cNvSpPr txBox="1">
            <a:spLocks/>
          </p:cNvSpPr>
          <p:nvPr/>
        </p:nvSpPr>
        <p:spPr>
          <a:xfrm>
            <a:off x="9978933" y="4122533"/>
            <a:ext cx="2124075" cy="218640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/>
              <a:t>ERA5</a:t>
            </a:r>
          </a:p>
          <a:p>
            <a:pPr marL="0" indent="0">
              <a:buNone/>
            </a:pPr>
            <a:r>
              <a:rPr lang="en-US" sz="2000" dirty="0"/>
              <a:t>5</a:t>
            </a:r>
            <a:r>
              <a:rPr lang="en-US" sz="2000" baseline="30000" dirty="0"/>
              <a:t>th</a:t>
            </a:r>
            <a:r>
              <a:rPr lang="en-US" sz="2000" dirty="0"/>
              <a:t> Generation ECMWF atmospheric reanalysis 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9D6147C-1945-E1D3-3EF6-A6E58716AF00}"/>
              </a:ext>
            </a:extLst>
          </p:cNvPr>
          <p:cNvSpPr txBox="1">
            <a:spLocks/>
          </p:cNvSpPr>
          <p:nvPr/>
        </p:nvSpPr>
        <p:spPr>
          <a:xfrm>
            <a:off x="723333" y="4122533"/>
            <a:ext cx="2121376" cy="22397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3200" dirty="0"/>
              <a:t>MERRA-2</a:t>
            </a:r>
          </a:p>
          <a:p>
            <a:pPr marL="0" indent="0" algn="r">
              <a:buNone/>
            </a:pPr>
            <a:r>
              <a:rPr lang="en-US" sz="2000" dirty="0"/>
              <a:t>Modern-Era Retrospective analysis for Research and Applications, Version 2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60F17B3A-0C20-C669-9169-BA9BCA26BC09}"/>
              </a:ext>
            </a:extLst>
          </p:cNvPr>
          <p:cNvSpPr txBox="1">
            <a:spLocks/>
          </p:cNvSpPr>
          <p:nvPr/>
        </p:nvSpPr>
        <p:spPr>
          <a:xfrm>
            <a:off x="711108" y="1341648"/>
            <a:ext cx="2124075" cy="22397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3200" dirty="0"/>
              <a:t>APHRODITE</a:t>
            </a:r>
          </a:p>
          <a:p>
            <a:pPr marL="0" indent="0" algn="r">
              <a:buNone/>
            </a:pPr>
            <a:r>
              <a:rPr lang="en-US" sz="2000" dirty="0"/>
              <a:t>Asian Precipitation – Highly-Resolved Observational Data Integration Toward Evaluation</a:t>
            </a:r>
          </a:p>
        </p:txBody>
      </p:sp>
      <p:pic>
        <p:nvPicPr>
          <p:cNvPr id="32" name="Picture 31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D04E2DF9-C5D8-94EB-9D03-EF04C3FD8C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8983" y="4122533"/>
            <a:ext cx="3429000" cy="2286000"/>
          </a:xfrm>
          <a:prstGeom prst="rect">
            <a:avLst/>
          </a:prstGeom>
        </p:spPr>
      </p:pic>
      <p:pic>
        <p:nvPicPr>
          <p:cNvPr id="34" name="Picture 33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BE38E04D-22FB-1520-43F9-ACB1F33493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5188" y="4122533"/>
            <a:ext cx="3429000" cy="2286000"/>
          </a:xfrm>
          <a:prstGeom prst="rect">
            <a:avLst/>
          </a:prstGeom>
        </p:spPr>
      </p:pic>
      <p:pic>
        <p:nvPicPr>
          <p:cNvPr id="36" name="Picture 35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1C4DB268-7F9E-83CF-1B25-AAB64DA2DC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9933" y="1341648"/>
            <a:ext cx="3429000" cy="2286000"/>
          </a:xfrm>
          <a:prstGeom prst="rect">
            <a:avLst/>
          </a:prstGeom>
        </p:spPr>
      </p:pic>
      <p:pic>
        <p:nvPicPr>
          <p:cNvPr id="38" name="Picture 37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2B1E5189-6E18-AC40-E799-AA3DC6A69F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5188" y="1317419"/>
            <a:ext cx="3429000" cy="2286000"/>
          </a:xfrm>
          <a:prstGeom prst="rect">
            <a:avLst/>
          </a:prstGeom>
        </p:spPr>
      </p:pic>
      <p:pic>
        <p:nvPicPr>
          <p:cNvPr id="39" name="Picture 38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964B20CF-8C06-9E00-5182-F0F678A550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4709" y="1341648"/>
            <a:ext cx="3429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950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diagram of a structure&#10;&#10;Description automatically generated">
            <a:extLst>
              <a:ext uri="{FF2B5EF4-FFF2-40B4-BE49-F238E27FC236}">
                <a16:creationId xmlns:a16="http://schemas.microsoft.com/office/drawing/2014/main" id="{190A0848-AFD5-FEDE-70E0-AF97B497455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465" r="1738" b="4052"/>
          <a:stretch/>
        </p:blipFill>
        <p:spPr>
          <a:xfrm>
            <a:off x="801327" y="1176803"/>
            <a:ext cx="10781073" cy="4440347"/>
          </a:xfrm>
          <a:prstGeom prst="roundRect">
            <a:avLst/>
          </a:prstGeom>
        </p:spPr>
      </p:pic>
      <p:pic>
        <p:nvPicPr>
          <p:cNvPr id="5" name="Picture 4" descr="A diagram of a structure&#10;&#10;Description automatically generated">
            <a:extLst>
              <a:ext uri="{FF2B5EF4-FFF2-40B4-BE49-F238E27FC236}">
                <a16:creationId xmlns:a16="http://schemas.microsoft.com/office/drawing/2014/main" id="{17042B85-4C4B-C7EA-5A2A-D7C1CA41CDA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5" r="1738" b="4052"/>
          <a:stretch/>
        </p:blipFill>
        <p:spPr>
          <a:xfrm>
            <a:off x="801327" y="1176804"/>
            <a:ext cx="10781073" cy="4440347"/>
          </a:xfrm>
          <a:prstGeom prst="roundRect">
            <a:avLst/>
          </a:prstGeom>
        </p:spPr>
      </p:pic>
      <p:pic>
        <p:nvPicPr>
          <p:cNvPr id="3" name="Picture 2" descr="A diagram of a structure&#10;&#10;Description automatically generated">
            <a:extLst>
              <a:ext uri="{FF2B5EF4-FFF2-40B4-BE49-F238E27FC236}">
                <a16:creationId xmlns:a16="http://schemas.microsoft.com/office/drawing/2014/main" id="{0F9966AC-FB5F-32EB-B128-61C46CF9F8A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5" r="20654" b="4052"/>
          <a:stretch/>
        </p:blipFill>
        <p:spPr>
          <a:xfrm>
            <a:off x="801327" y="1182686"/>
            <a:ext cx="8606833" cy="4440347"/>
          </a:xfrm>
          <a:prstGeom prst="rect">
            <a:avLst/>
          </a:prstGeom>
        </p:spPr>
      </p:pic>
      <p:pic>
        <p:nvPicPr>
          <p:cNvPr id="7" name="Picture 6" descr="A diagram of a structure&#10;&#10;Description automatically generated">
            <a:extLst>
              <a:ext uri="{FF2B5EF4-FFF2-40B4-BE49-F238E27FC236}">
                <a16:creationId xmlns:a16="http://schemas.microsoft.com/office/drawing/2014/main" id="{3408836E-F93E-D654-5329-CC606A7C533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3" r="57163" b="4052"/>
          <a:stretch/>
        </p:blipFill>
        <p:spPr>
          <a:xfrm>
            <a:off x="801327" y="1182687"/>
            <a:ext cx="4410753" cy="44403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CF74D3-6F5B-36A5-485B-1D9028C37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465" y="238124"/>
            <a:ext cx="9905998" cy="944563"/>
          </a:xfrm>
        </p:spPr>
        <p:txBody>
          <a:bodyPr>
            <a:normAutofit/>
          </a:bodyPr>
          <a:lstStyle/>
          <a:p>
            <a:r>
              <a:rPr lang="en-US" sz="3800" dirty="0"/>
              <a:t>Autoencoder Basics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ED50791-367C-F1D4-28A9-BEEAEFA68434}"/>
              </a:ext>
            </a:extLst>
          </p:cNvPr>
          <p:cNvGrpSpPr/>
          <p:nvPr/>
        </p:nvGrpSpPr>
        <p:grpSpPr>
          <a:xfrm>
            <a:off x="800539" y="1483360"/>
            <a:ext cx="1668341" cy="4139674"/>
            <a:chOff x="790379" y="1483360"/>
            <a:chExt cx="1668341" cy="4139674"/>
          </a:xfrm>
        </p:grpSpPr>
        <p:pic>
          <p:nvPicPr>
            <p:cNvPr id="4" name="Picture 3" descr="A diagram of a structure&#10;&#10;Description automatically generated">
              <a:extLst>
                <a:ext uri="{FF2B5EF4-FFF2-40B4-BE49-F238E27FC236}">
                  <a16:creationId xmlns:a16="http://schemas.microsoft.com/office/drawing/2014/main" id="{26828299-4D7D-F298-614D-9FEC590572D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63" t="15278" r="85972" b="4052"/>
            <a:stretch/>
          </p:blipFill>
          <p:spPr>
            <a:xfrm>
              <a:off x="790379" y="1889760"/>
              <a:ext cx="1099382" cy="3733274"/>
            </a:xfrm>
            <a:prstGeom prst="rect">
              <a:avLst/>
            </a:prstGeom>
          </p:spPr>
        </p:pic>
        <p:pic>
          <p:nvPicPr>
            <p:cNvPr id="9" name="Picture 8" descr="A diagram of a structure&#10;&#10;Description automatically generated">
              <a:extLst>
                <a:ext uri="{FF2B5EF4-FFF2-40B4-BE49-F238E27FC236}">
                  <a16:creationId xmlns:a16="http://schemas.microsoft.com/office/drawing/2014/main" id="{9D4E852E-37BC-0EC3-C928-E940B3613F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63" t="6496" r="81029" b="84722"/>
            <a:stretch/>
          </p:blipFill>
          <p:spPr>
            <a:xfrm>
              <a:off x="791167" y="1483360"/>
              <a:ext cx="1667553" cy="406400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B8D2D08-FCFE-75FF-D684-426E76D57B70}"/>
              </a:ext>
            </a:extLst>
          </p:cNvPr>
          <p:cNvGrpSpPr/>
          <p:nvPr/>
        </p:nvGrpSpPr>
        <p:grpSpPr>
          <a:xfrm>
            <a:off x="801327" y="1182686"/>
            <a:ext cx="6110377" cy="4440347"/>
            <a:chOff x="791167" y="1182686"/>
            <a:chExt cx="6110377" cy="4440347"/>
          </a:xfrm>
        </p:grpSpPr>
        <p:pic>
          <p:nvPicPr>
            <p:cNvPr id="11" name="Picture 10" descr="A diagram of a structure&#10;&#10;Description automatically generated">
              <a:extLst>
                <a:ext uri="{FF2B5EF4-FFF2-40B4-BE49-F238E27FC236}">
                  <a16:creationId xmlns:a16="http://schemas.microsoft.com/office/drawing/2014/main" id="{595BDC4B-DE60-D192-75C2-9220ECA46B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64" r="45936" b="4052"/>
            <a:stretch/>
          </p:blipFill>
          <p:spPr>
            <a:xfrm>
              <a:off x="791167" y="1182686"/>
              <a:ext cx="5701073" cy="4440347"/>
            </a:xfrm>
            <a:prstGeom prst="rect">
              <a:avLst/>
            </a:prstGeom>
          </p:spPr>
        </p:pic>
        <p:pic>
          <p:nvPicPr>
            <p:cNvPr id="6" name="Picture 5" descr="A diagram of a structure&#10;&#10;Description automatically generated">
              <a:extLst>
                <a:ext uri="{FF2B5EF4-FFF2-40B4-BE49-F238E27FC236}">
                  <a16:creationId xmlns:a16="http://schemas.microsoft.com/office/drawing/2014/main" id="{B9EABC0C-F501-447B-CAAC-BA52A03DBA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988" r="42374" b="79590"/>
            <a:stretch/>
          </p:blipFill>
          <p:spPr>
            <a:xfrm>
              <a:off x="5334000" y="1192846"/>
              <a:ext cx="1567544" cy="9445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45019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A309D-4302-5ABF-8387-5B89D0157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989" y="16582"/>
            <a:ext cx="6664354" cy="1325563"/>
          </a:xfrm>
        </p:spPr>
        <p:txBody>
          <a:bodyPr>
            <a:normAutofit/>
          </a:bodyPr>
          <a:lstStyle/>
          <a:p>
            <a:r>
              <a:rPr lang="en-US" sz="3800" dirty="0"/>
              <a:t>Full autoencoder model</a:t>
            </a:r>
          </a:p>
        </p:txBody>
      </p:sp>
      <p:pic>
        <p:nvPicPr>
          <p:cNvPr id="37" name="Picture 36" descr="A black text with a plus and a white background&#10;&#10;Description automatically generated">
            <a:extLst>
              <a:ext uri="{FF2B5EF4-FFF2-40B4-BE49-F238E27FC236}">
                <a16:creationId xmlns:a16="http://schemas.microsoft.com/office/drawing/2014/main" id="{2A88721B-A3B6-39FE-E72A-13B62F6EB2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06" y="2427263"/>
            <a:ext cx="6103620" cy="922020"/>
          </a:xfrm>
          <a:prstGeom prst="rect">
            <a:avLst/>
          </a:prstGeom>
        </p:spPr>
      </p:pic>
      <p:pic>
        <p:nvPicPr>
          <p:cNvPr id="39" name="Picture 38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648791D8-50F5-F100-2DB3-8AFAC03506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670" y="3278115"/>
            <a:ext cx="6492240" cy="815340"/>
          </a:xfrm>
          <a:prstGeom prst="rect">
            <a:avLst/>
          </a:prstGeom>
        </p:spPr>
      </p:pic>
      <p:pic>
        <p:nvPicPr>
          <p:cNvPr id="41" name="Picture 40" descr="A black text with a white background&#10;&#10;Description automatically generated">
            <a:extLst>
              <a:ext uri="{FF2B5EF4-FFF2-40B4-BE49-F238E27FC236}">
                <a16:creationId xmlns:a16="http://schemas.microsoft.com/office/drawing/2014/main" id="{99A8FC9D-C36D-E466-6DC4-D7A5B81B3D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100" y="3995175"/>
            <a:ext cx="4335780" cy="792480"/>
          </a:xfrm>
          <a:prstGeom prst="rect">
            <a:avLst/>
          </a:prstGeom>
        </p:spPr>
      </p:pic>
      <p:pic>
        <p:nvPicPr>
          <p:cNvPr id="45" name="Picture 44" descr="A black and white image of a mathematical equation&#10;&#10;Description automatically generated">
            <a:extLst>
              <a:ext uri="{FF2B5EF4-FFF2-40B4-BE49-F238E27FC236}">
                <a16:creationId xmlns:a16="http://schemas.microsoft.com/office/drawing/2014/main" id="{8CE5299D-6D69-5BF5-DAC2-D170E682426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739"/>
          <a:stretch/>
        </p:blipFill>
        <p:spPr>
          <a:xfrm>
            <a:off x="955706" y="5422857"/>
            <a:ext cx="3284220" cy="685800"/>
          </a:xfrm>
          <a:prstGeom prst="rect">
            <a:avLst/>
          </a:prstGeom>
        </p:spPr>
      </p:pic>
      <p:pic>
        <p:nvPicPr>
          <p:cNvPr id="47" name="Picture 46" descr="A black text with a white background&#10;&#10;Description automatically generated">
            <a:extLst>
              <a:ext uri="{FF2B5EF4-FFF2-40B4-BE49-F238E27FC236}">
                <a16:creationId xmlns:a16="http://schemas.microsoft.com/office/drawing/2014/main" id="{A0D5C24A-C129-11FB-0E5B-08320F3456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39" y="4714332"/>
            <a:ext cx="4389120" cy="685800"/>
          </a:xfrm>
          <a:prstGeom prst="roundRect">
            <a:avLst>
              <a:gd name="adj" fmla="val 50000"/>
            </a:avLst>
          </a:prstGeom>
        </p:spPr>
      </p:pic>
      <p:pic>
        <p:nvPicPr>
          <p:cNvPr id="49" name="Picture 48" descr="A black text with a white background&#10;&#10;Description automatically generated">
            <a:extLst>
              <a:ext uri="{FF2B5EF4-FFF2-40B4-BE49-F238E27FC236}">
                <a16:creationId xmlns:a16="http://schemas.microsoft.com/office/drawing/2014/main" id="{FD1D8745-2683-7479-249E-2238F678051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459" y="1060743"/>
            <a:ext cx="2880360" cy="693420"/>
          </a:xfrm>
          <a:prstGeom prst="rect">
            <a:avLst/>
          </a:prstGeom>
        </p:spPr>
      </p:pic>
      <p:pic>
        <p:nvPicPr>
          <p:cNvPr id="53" name="Picture 52" descr="A black and white text&#10;&#10;Description automatically generated">
            <a:extLst>
              <a:ext uri="{FF2B5EF4-FFF2-40B4-BE49-F238E27FC236}">
                <a16:creationId xmlns:a16="http://schemas.microsoft.com/office/drawing/2014/main" id="{96FF7ACA-0486-7A10-1EDB-55A79655A7B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39" y="1615975"/>
            <a:ext cx="3947160" cy="89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327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A309D-4302-5ABF-8387-5B89D0157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989" y="16582"/>
            <a:ext cx="6664354" cy="1325563"/>
          </a:xfrm>
        </p:spPr>
        <p:txBody>
          <a:bodyPr>
            <a:normAutofit/>
          </a:bodyPr>
          <a:lstStyle/>
          <a:p>
            <a:r>
              <a:rPr lang="en-US" sz="3800" dirty="0"/>
              <a:t>Preserving Support</a:t>
            </a:r>
          </a:p>
        </p:txBody>
      </p:sp>
      <p:pic>
        <p:nvPicPr>
          <p:cNvPr id="37" name="Picture 36" descr="A black text with a plus and a white background&#10;&#10;Description automatically generated">
            <a:extLst>
              <a:ext uri="{FF2B5EF4-FFF2-40B4-BE49-F238E27FC236}">
                <a16:creationId xmlns:a16="http://schemas.microsoft.com/office/drawing/2014/main" id="{2A88721B-A3B6-39FE-E72A-13B62F6EB2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06" y="2427263"/>
            <a:ext cx="6103620" cy="922020"/>
          </a:xfrm>
          <a:prstGeom prst="rect">
            <a:avLst/>
          </a:prstGeom>
        </p:spPr>
      </p:pic>
      <p:pic>
        <p:nvPicPr>
          <p:cNvPr id="39" name="Picture 38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648791D8-50F5-F100-2DB3-8AFAC03506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670" y="3278115"/>
            <a:ext cx="6492240" cy="815340"/>
          </a:xfrm>
          <a:prstGeom prst="rect">
            <a:avLst/>
          </a:prstGeom>
        </p:spPr>
      </p:pic>
      <p:pic>
        <p:nvPicPr>
          <p:cNvPr id="41" name="Picture 40" descr="A black text with a white background&#10;&#10;Description automatically generated">
            <a:extLst>
              <a:ext uri="{FF2B5EF4-FFF2-40B4-BE49-F238E27FC236}">
                <a16:creationId xmlns:a16="http://schemas.microsoft.com/office/drawing/2014/main" id="{99A8FC9D-C36D-E466-6DC4-D7A5B81B3D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100" y="3995175"/>
            <a:ext cx="4335780" cy="792480"/>
          </a:xfrm>
          <a:prstGeom prst="rect">
            <a:avLst/>
          </a:prstGeom>
        </p:spPr>
      </p:pic>
      <p:pic>
        <p:nvPicPr>
          <p:cNvPr id="49" name="Picture 48" descr="A black text with a white background&#10;&#10;Description automatically generated">
            <a:extLst>
              <a:ext uri="{FF2B5EF4-FFF2-40B4-BE49-F238E27FC236}">
                <a16:creationId xmlns:a16="http://schemas.microsoft.com/office/drawing/2014/main" id="{FD1D8745-2683-7479-249E-2238F67805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459" y="1060743"/>
            <a:ext cx="2880360" cy="693420"/>
          </a:xfrm>
          <a:prstGeom prst="rect">
            <a:avLst/>
          </a:prstGeom>
        </p:spPr>
      </p:pic>
      <p:pic>
        <p:nvPicPr>
          <p:cNvPr id="53" name="Picture 52" descr="A black and white text&#10;&#10;Description automatically generated">
            <a:extLst>
              <a:ext uri="{FF2B5EF4-FFF2-40B4-BE49-F238E27FC236}">
                <a16:creationId xmlns:a16="http://schemas.microsoft.com/office/drawing/2014/main" id="{96FF7ACA-0486-7A10-1EDB-55A79655A7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39" y="1615975"/>
            <a:ext cx="3947160" cy="899160"/>
          </a:xfrm>
          <a:prstGeom prst="rect">
            <a:avLst/>
          </a:prstGeom>
        </p:spPr>
      </p:pic>
      <p:pic>
        <p:nvPicPr>
          <p:cNvPr id="3" name="Picture 2" descr="Chart, line chart&#10;&#10;Description automatically generated">
            <a:extLst>
              <a:ext uri="{FF2B5EF4-FFF2-40B4-BE49-F238E27FC236}">
                <a16:creationId xmlns:a16="http://schemas.microsoft.com/office/drawing/2014/main" id="{B976A31B-DB79-9A8A-C7C2-314BD3C025F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99" b="2805"/>
          <a:stretch/>
        </p:blipFill>
        <p:spPr>
          <a:xfrm>
            <a:off x="7972454" y="1893122"/>
            <a:ext cx="3691226" cy="2850172"/>
          </a:xfrm>
          <a:prstGeom prst="rect">
            <a:avLst/>
          </a:prstGeom>
        </p:spPr>
      </p:pic>
      <p:pic>
        <p:nvPicPr>
          <p:cNvPr id="4" name="Picture 3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2DF659C6-524B-2B6F-301E-F01A57CFF60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807" y="1221788"/>
            <a:ext cx="2636520" cy="59436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22B9FC2-6B3C-BEC1-D86C-776A6AB3CCA1}"/>
              </a:ext>
            </a:extLst>
          </p:cNvPr>
          <p:cNvSpPr/>
          <p:nvPr/>
        </p:nvSpPr>
        <p:spPr>
          <a:xfrm>
            <a:off x="1025646" y="1030215"/>
            <a:ext cx="3029829" cy="693420"/>
          </a:xfrm>
          <a:prstGeom prst="rect">
            <a:avLst/>
          </a:prstGeom>
          <a:solidFill>
            <a:srgbClr val="DF750B">
              <a:alpha val="2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6" name="Picture 5" descr="A black and white image of a mathematical equation&#10;&#10;Description automatically generated">
            <a:extLst>
              <a:ext uri="{FF2B5EF4-FFF2-40B4-BE49-F238E27FC236}">
                <a16:creationId xmlns:a16="http://schemas.microsoft.com/office/drawing/2014/main" id="{D85C6B11-99F6-8B09-1EF8-250A15E7CD7F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739"/>
          <a:stretch/>
        </p:blipFill>
        <p:spPr>
          <a:xfrm>
            <a:off x="955706" y="5422857"/>
            <a:ext cx="3284220" cy="685800"/>
          </a:xfrm>
          <a:prstGeom prst="rect">
            <a:avLst/>
          </a:prstGeom>
        </p:spPr>
      </p:pic>
      <p:pic>
        <p:nvPicPr>
          <p:cNvPr id="7" name="Picture 6" descr="A black text with a white background&#10;&#10;Description automatically generated">
            <a:extLst>
              <a:ext uri="{FF2B5EF4-FFF2-40B4-BE49-F238E27FC236}">
                <a16:creationId xmlns:a16="http://schemas.microsoft.com/office/drawing/2014/main" id="{CC7A382A-2142-1DE7-9E76-D97DD0E6440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39" y="4714332"/>
            <a:ext cx="4389120" cy="685800"/>
          </a:xfrm>
          <a:prstGeom prst="roundRect">
            <a:avLst>
              <a:gd name="adj" fmla="val 50000"/>
            </a:avLst>
          </a:prstGeom>
        </p:spPr>
      </p:pic>
    </p:spTree>
    <p:extLst>
      <p:ext uri="{BB962C8B-B14F-4D97-AF65-F5344CB8AC3E}">
        <p14:creationId xmlns:p14="http://schemas.microsoft.com/office/powerpoint/2010/main" val="191116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A309D-4302-5ABF-8387-5B89D0157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989" y="16582"/>
            <a:ext cx="6664354" cy="1325563"/>
          </a:xfrm>
        </p:spPr>
        <p:txBody>
          <a:bodyPr>
            <a:normAutofit/>
          </a:bodyPr>
          <a:lstStyle/>
          <a:p>
            <a:r>
              <a:rPr lang="en-US" sz="3800" dirty="0"/>
              <a:t>Likelihood</a:t>
            </a:r>
          </a:p>
        </p:txBody>
      </p:sp>
      <p:pic>
        <p:nvPicPr>
          <p:cNvPr id="37" name="Picture 36" descr="A black text with a plus and a white background&#10;&#10;Description automatically generated">
            <a:extLst>
              <a:ext uri="{FF2B5EF4-FFF2-40B4-BE49-F238E27FC236}">
                <a16:creationId xmlns:a16="http://schemas.microsoft.com/office/drawing/2014/main" id="{2A88721B-A3B6-39FE-E72A-13B62F6EB2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06" y="2427263"/>
            <a:ext cx="6103620" cy="922020"/>
          </a:xfrm>
          <a:prstGeom prst="rect">
            <a:avLst/>
          </a:prstGeom>
        </p:spPr>
      </p:pic>
      <p:pic>
        <p:nvPicPr>
          <p:cNvPr id="39" name="Picture 38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648791D8-50F5-F100-2DB3-8AFAC03506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670" y="3278115"/>
            <a:ext cx="6492240" cy="815340"/>
          </a:xfrm>
          <a:prstGeom prst="rect">
            <a:avLst/>
          </a:prstGeom>
        </p:spPr>
      </p:pic>
      <p:pic>
        <p:nvPicPr>
          <p:cNvPr id="41" name="Picture 40" descr="A black text with a white background&#10;&#10;Description automatically generated">
            <a:extLst>
              <a:ext uri="{FF2B5EF4-FFF2-40B4-BE49-F238E27FC236}">
                <a16:creationId xmlns:a16="http://schemas.microsoft.com/office/drawing/2014/main" id="{99A8FC9D-C36D-E466-6DC4-D7A5B81B3D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100" y="3995175"/>
            <a:ext cx="4335780" cy="792480"/>
          </a:xfrm>
          <a:prstGeom prst="rect">
            <a:avLst/>
          </a:prstGeom>
        </p:spPr>
      </p:pic>
      <p:pic>
        <p:nvPicPr>
          <p:cNvPr id="49" name="Picture 48" descr="A black text with a white background&#10;&#10;Description automatically generated">
            <a:extLst>
              <a:ext uri="{FF2B5EF4-FFF2-40B4-BE49-F238E27FC236}">
                <a16:creationId xmlns:a16="http://schemas.microsoft.com/office/drawing/2014/main" id="{FD1D8745-2683-7479-249E-2238F67805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459" y="1060743"/>
            <a:ext cx="2880360" cy="693420"/>
          </a:xfrm>
          <a:prstGeom prst="rect">
            <a:avLst/>
          </a:prstGeom>
        </p:spPr>
      </p:pic>
      <p:pic>
        <p:nvPicPr>
          <p:cNvPr id="53" name="Picture 52" descr="A black and white text&#10;&#10;Description automatically generated">
            <a:extLst>
              <a:ext uri="{FF2B5EF4-FFF2-40B4-BE49-F238E27FC236}">
                <a16:creationId xmlns:a16="http://schemas.microsoft.com/office/drawing/2014/main" id="{96FF7ACA-0486-7A10-1EDB-55A79655A7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39" y="1615975"/>
            <a:ext cx="3947160" cy="89916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22B9FC2-6B3C-BEC1-D86C-776A6AB3CCA1}"/>
              </a:ext>
            </a:extLst>
          </p:cNvPr>
          <p:cNvSpPr/>
          <p:nvPr/>
        </p:nvSpPr>
        <p:spPr>
          <a:xfrm>
            <a:off x="1025646" y="1731255"/>
            <a:ext cx="3964186" cy="693420"/>
          </a:xfrm>
          <a:prstGeom prst="rect">
            <a:avLst/>
          </a:prstGeom>
          <a:solidFill>
            <a:srgbClr val="DF750B">
              <a:alpha val="2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3">
                <a:extLst>
                  <a:ext uri="{FF2B5EF4-FFF2-40B4-BE49-F238E27FC236}">
                    <a16:creationId xmlns:a16="http://schemas.microsoft.com/office/drawing/2014/main" id="{B4BBD2DA-C83C-15B2-6AA1-2DD7519F17A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96580" y="1342145"/>
                <a:ext cx="3246241" cy="359922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We are using a Normal Likelihood for our Data with a common variance parameter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b="0" dirty="0"/>
                  <a:t> across all data product recreations. </a:t>
                </a:r>
              </a:p>
            </p:txBody>
          </p:sp>
        </mc:Choice>
        <mc:Fallback xmlns="">
          <p:sp>
            <p:nvSpPr>
              <p:cNvPr id="6" name="Content Placeholder 3">
                <a:extLst>
                  <a:ext uri="{FF2B5EF4-FFF2-40B4-BE49-F238E27FC236}">
                    <a16:creationId xmlns:a16="http://schemas.microsoft.com/office/drawing/2014/main" id="{B4BBD2DA-C83C-15B2-6AA1-2DD7519F17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6580" y="1342145"/>
                <a:ext cx="3246241" cy="3599220"/>
              </a:xfrm>
              <a:prstGeom prst="rect">
                <a:avLst/>
              </a:prstGeom>
              <a:blipFill>
                <a:blip r:embed="rId9"/>
                <a:stretch>
                  <a:fillRect l="-3008" t="-169" r="-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A black and white image of a mathematical equation&#10;&#10;Description automatically generated">
            <a:extLst>
              <a:ext uri="{FF2B5EF4-FFF2-40B4-BE49-F238E27FC236}">
                <a16:creationId xmlns:a16="http://schemas.microsoft.com/office/drawing/2014/main" id="{F18D064A-EF69-AE7D-481D-8E268EB39CFD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739"/>
          <a:stretch/>
        </p:blipFill>
        <p:spPr>
          <a:xfrm>
            <a:off x="955706" y="5422857"/>
            <a:ext cx="3284220" cy="685800"/>
          </a:xfrm>
          <a:prstGeom prst="rect">
            <a:avLst/>
          </a:prstGeom>
        </p:spPr>
      </p:pic>
      <p:pic>
        <p:nvPicPr>
          <p:cNvPr id="4" name="Picture 3" descr="A black text with a white background&#10;&#10;Description automatically generated">
            <a:extLst>
              <a:ext uri="{FF2B5EF4-FFF2-40B4-BE49-F238E27FC236}">
                <a16:creationId xmlns:a16="http://schemas.microsoft.com/office/drawing/2014/main" id="{B3E1072E-ED8E-9C02-F36F-4571EE6798F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39" y="4714332"/>
            <a:ext cx="4389120" cy="685800"/>
          </a:xfrm>
          <a:prstGeom prst="roundRect">
            <a:avLst>
              <a:gd name="adj" fmla="val 50000"/>
            </a:avLst>
          </a:prstGeom>
        </p:spPr>
      </p:pic>
    </p:spTree>
    <p:extLst>
      <p:ext uri="{BB962C8B-B14F-4D97-AF65-F5344CB8AC3E}">
        <p14:creationId xmlns:p14="http://schemas.microsoft.com/office/powerpoint/2010/main" val="161077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A309D-4302-5ABF-8387-5B89D0157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989" y="16582"/>
            <a:ext cx="6664354" cy="1325563"/>
          </a:xfrm>
        </p:spPr>
        <p:txBody>
          <a:bodyPr>
            <a:normAutofit/>
          </a:bodyPr>
          <a:lstStyle/>
          <a:p>
            <a:r>
              <a:rPr lang="en-US" sz="3800" dirty="0"/>
              <a:t>Network Connections</a:t>
            </a:r>
          </a:p>
        </p:txBody>
      </p:sp>
      <p:pic>
        <p:nvPicPr>
          <p:cNvPr id="37" name="Picture 36" descr="A black text with a plus and a white background&#10;&#10;Description automatically generated">
            <a:extLst>
              <a:ext uri="{FF2B5EF4-FFF2-40B4-BE49-F238E27FC236}">
                <a16:creationId xmlns:a16="http://schemas.microsoft.com/office/drawing/2014/main" id="{2A88721B-A3B6-39FE-E72A-13B62F6EB2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06" y="2427263"/>
            <a:ext cx="6103620" cy="922020"/>
          </a:xfrm>
          <a:prstGeom prst="rect">
            <a:avLst/>
          </a:prstGeom>
        </p:spPr>
      </p:pic>
      <p:pic>
        <p:nvPicPr>
          <p:cNvPr id="39" name="Picture 38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648791D8-50F5-F100-2DB3-8AFAC03506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670" y="3278115"/>
            <a:ext cx="6492240" cy="815340"/>
          </a:xfrm>
          <a:prstGeom prst="rect">
            <a:avLst/>
          </a:prstGeom>
        </p:spPr>
      </p:pic>
      <p:pic>
        <p:nvPicPr>
          <p:cNvPr id="41" name="Picture 40" descr="A black text with a white background&#10;&#10;Description automatically generated">
            <a:extLst>
              <a:ext uri="{FF2B5EF4-FFF2-40B4-BE49-F238E27FC236}">
                <a16:creationId xmlns:a16="http://schemas.microsoft.com/office/drawing/2014/main" id="{99A8FC9D-C36D-E466-6DC4-D7A5B81B3D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100" y="3995175"/>
            <a:ext cx="4335780" cy="792480"/>
          </a:xfrm>
          <a:prstGeom prst="rect">
            <a:avLst/>
          </a:prstGeom>
        </p:spPr>
      </p:pic>
      <p:pic>
        <p:nvPicPr>
          <p:cNvPr id="49" name="Picture 48" descr="A black text with a white background&#10;&#10;Description automatically generated">
            <a:extLst>
              <a:ext uri="{FF2B5EF4-FFF2-40B4-BE49-F238E27FC236}">
                <a16:creationId xmlns:a16="http://schemas.microsoft.com/office/drawing/2014/main" id="{FD1D8745-2683-7479-249E-2238F67805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459" y="1060743"/>
            <a:ext cx="2880360" cy="693420"/>
          </a:xfrm>
          <a:prstGeom prst="rect">
            <a:avLst/>
          </a:prstGeom>
        </p:spPr>
      </p:pic>
      <p:pic>
        <p:nvPicPr>
          <p:cNvPr id="53" name="Picture 52" descr="A black and white text&#10;&#10;Description automatically generated">
            <a:extLst>
              <a:ext uri="{FF2B5EF4-FFF2-40B4-BE49-F238E27FC236}">
                <a16:creationId xmlns:a16="http://schemas.microsoft.com/office/drawing/2014/main" id="{96FF7ACA-0486-7A10-1EDB-55A79655A7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39" y="1615975"/>
            <a:ext cx="3947160" cy="89916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22B9FC2-6B3C-BEC1-D86C-776A6AB3CCA1}"/>
              </a:ext>
            </a:extLst>
          </p:cNvPr>
          <p:cNvSpPr/>
          <p:nvPr/>
        </p:nvSpPr>
        <p:spPr>
          <a:xfrm>
            <a:off x="1025646" y="2452615"/>
            <a:ext cx="5994772" cy="784860"/>
          </a:xfrm>
          <a:prstGeom prst="rect">
            <a:avLst/>
          </a:prstGeom>
          <a:solidFill>
            <a:srgbClr val="DF750B">
              <a:alpha val="2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3" name="Picture 2" descr="A diagram of a structure&#10;&#10;Description automatically generated">
            <a:extLst>
              <a:ext uri="{FF2B5EF4-FFF2-40B4-BE49-F238E27FC236}">
                <a16:creationId xmlns:a16="http://schemas.microsoft.com/office/drawing/2014/main" id="{A961900C-F9AA-A202-73F2-8748A7066EE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5" r="1738" b="4052"/>
          <a:stretch/>
        </p:blipFill>
        <p:spPr>
          <a:xfrm>
            <a:off x="7020418" y="1157665"/>
            <a:ext cx="4602622" cy="1895660"/>
          </a:xfrm>
          <a:prstGeom prst="roundRect">
            <a:avLst/>
          </a:prstGeom>
        </p:spPr>
      </p:pic>
      <p:pic>
        <p:nvPicPr>
          <p:cNvPr id="4" name="Picture 3" descr="A black and white image of a mathematical equation&#10;&#10;Description automatically generated">
            <a:extLst>
              <a:ext uri="{FF2B5EF4-FFF2-40B4-BE49-F238E27FC236}">
                <a16:creationId xmlns:a16="http://schemas.microsoft.com/office/drawing/2014/main" id="{33600C05-E26F-C2B8-4BA5-59FB503859A6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739"/>
          <a:stretch/>
        </p:blipFill>
        <p:spPr>
          <a:xfrm>
            <a:off x="955706" y="5422857"/>
            <a:ext cx="3284220" cy="685800"/>
          </a:xfrm>
          <a:prstGeom prst="rect">
            <a:avLst/>
          </a:prstGeom>
        </p:spPr>
      </p:pic>
      <p:pic>
        <p:nvPicPr>
          <p:cNvPr id="6" name="Picture 5" descr="A black text with a white background&#10;&#10;Description automatically generated">
            <a:extLst>
              <a:ext uri="{FF2B5EF4-FFF2-40B4-BE49-F238E27FC236}">
                <a16:creationId xmlns:a16="http://schemas.microsoft.com/office/drawing/2014/main" id="{551DD9A9-4D9C-BF5C-D1B8-7B92ADF4D18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39" y="4714332"/>
            <a:ext cx="4389120" cy="685800"/>
          </a:xfrm>
          <a:prstGeom prst="roundRect">
            <a:avLst>
              <a:gd name="adj" fmla="val 50000"/>
            </a:avLst>
          </a:prstGeom>
        </p:spPr>
      </p:pic>
    </p:spTree>
    <p:extLst>
      <p:ext uri="{BB962C8B-B14F-4D97-AF65-F5344CB8AC3E}">
        <p14:creationId xmlns:p14="http://schemas.microsoft.com/office/powerpoint/2010/main" val="3896656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A309D-4302-5ABF-8387-5B89D0157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989" y="16582"/>
            <a:ext cx="6664354" cy="1325563"/>
          </a:xfrm>
        </p:spPr>
        <p:txBody>
          <a:bodyPr>
            <a:normAutofit/>
          </a:bodyPr>
          <a:lstStyle/>
          <a:p>
            <a:r>
              <a:rPr lang="en-US" sz="3800" dirty="0"/>
              <a:t>Network Connections</a:t>
            </a:r>
          </a:p>
        </p:txBody>
      </p:sp>
      <p:pic>
        <p:nvPicPr>
          <p:cNvPr id="37" name="Picture 36" descr="A black text with a plus and a white background&#10;&#10;Description automatically generated">
            <a:extLst>
              <a:ext uri="{FF2B5EF4-FFF2-40B4-BE49-F238E27FC236}">
                <a16:creationId xmlns:a16="http://schemas.microsoft.com/office/drawing/2014/main" id="{2A88721B-A3B6-39FE-E72A-13B62F6EB2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06" y="2427263"/>
            <a:ext cx="6103620" cy="922020"/>
          </a:xfrm>
          <a:prstGeom prst="rect">
            <a:avLst/>
          </a:prstGeom>
        </p:spPr>
      </p:pic>
      <p:pic>
        <p:nvPicPr>
          <p:cNvPr id="39" name="Picture 38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648791D8-50F5-F100-2DB3-8AFAC03506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670" y="3278115"/>
            <a:ext cx="6492240" cy="815340"/>
          </a:xfrm>
          <a:prstGeom prst="rect">
            <a:avLst/>
          </a:prstGeom>
        </p:spPr>
      </p:pic>
      <p:pic>
        <p:nvPicPr>
          <p:cNvPr id="41" name="Picture 40" descr="A black text with a white background&#10;&#10;Description automatically generated">
            <a:extLst>
              <a:ext uri="{FF2B5EF4-FFF2-40B4-BE49-F238E27FC236}">
                <a16:creationId xmlns:a16="http://schemas.microsoft.com/office/drawing/2014/main" id="{99A8FC9D-C36D-E466-6DC4-D7A5B81B3D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100" y="3995175"/>
            <a:ext cx="4335780" cy="792480"/>
          </a:xfrm>
          <a:prstGeom prst="rect">
            <a:avLst/>
          </a:prstGeom>
        </p:spPr>
      </p:pic>
      <p:pic>
        <p:nvPicPr>
          <p:cNvPr id="49" name="Picture 48" descr="A black text with a white background&#10;&#10;Description automatically generated">
            <a:extLst>
              <a:ext uri="{FF2B5EF4-FFF2-40B4-BE49-F238E27FC236}">
                <a16:creationId xmlns:a16="http://schemas.microsoft.com/office/drawing/2014/main" id="{FD1D8745-2683-7479-249E-2238F67805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459" y="1060743"/>
            <a:ext cx="2880360" cy="693420"/>
          </a:xfrm>
          <a:prstGeom prst="rect">
            <a:avLst/>
          </a:prstGeom>
        </p:spPr>
      </p:pic>
      <p:pic>
        <p:nvPicPr>
          <p:cNvPr id="53" name="Picture 52" descr="A black and white text&#10;&#10;Description automatically generated">
            <a:extLst>
              <a:ext uri="{FF2B5EF4-FFF2-40B4-BE49-F238E27FC236}">
                <a16:creationId xmlns:a16="http://schemas.microsoft.com/office/drawing/2014/main" id="{96FF7ACA-0486-7A10-1EDB-55A79655A7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39" y="1615975"/>
            <a:ext cx="3947160" cy="89916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22B9FC2-6B3C-BEC1-D86C-776A6AB3CCA1}"/>
              </a:ext>
            </a:extLst>
          </p:cNvPr>
          <p:cNvSpPr/>
          <p:nvPr/>
        </p:nvSpPr>
        <p:spPr>
          <a:xfrm>
            <a:off x="1533646" y="3245095"/>
            <a:ext cx="6289554" cy="784860"/>
          </a:xfrm>
          <a:prstGeom prst="rect">
            <a:avLst/>
          </a:prstGeom>
          <a:solidFill>
            <a:srgbClr val="DF750B">
              <a:alpha val="2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3" name="Picture 2" descr="A diagram of a structure&#10;&#10;Description automatically generated">
            <a:extLst>
              <a:ext uri="{FF2B5EF4-FFF2-40B4-BE49-F238E27FC236}">
                <a16:creationId xmlns:a16="http://schemas.microsoft.com/office/drawing/2014/main" id="{A961900C-F9AA-A202-73F2-8748A7066EE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5" r="1738" b="4052"/>
          <a:stretch/>
        </p:blipFill>
        <p:spPr>
          <a:xfrm>
            <a:off x="7020418" y="1157665"/>
            <a:ext cx="4602622" cy="1895660"/>
          </a:xfrm>
          <a:prstGeom prst="round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31035EF-D923-6C8B-8DD3-46FC243F41AC}"/>
              </a:ext>
            </a:extLst>
          </p:cNvPr>
          <p:cNvSpPr/>
          <p:nvPr/>
        </p:nvSpPr>
        <p:spPr>
          <a:xfrm>
            <a:off x="1533646" y="4037575"/>
            <a:ext cx="4450594" cy="685800"/>
          </a:xfrm>
          <a:prstGeom prst="rect">
            <a:avLst/>
          </a:prstGeom>
          <a:solidFill>
            <a:srgbClr val="DF750B">
              <a:alpha val="2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6" name="Picture 5" descr="A black and white image of a mathematical equation&#10;&#10;Description automatically generated">
            <a:extLst>
              <a:ext uri="{FF2B5EF4-FFF2-40B4-BE49-F238E27FC236}">
                <a16:creationId xmlns:a16="http://schemas.microsoft.com/office/drawing/2014/main" id="{65A7A75D-CE5E-ADD4-85FD-C7291525D0E7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739"/>
          <a:stretch/>
        </p:blipFill>
        <p:spPr>
          <a:xfrm>
            <a:off x="955706" y="5422857"/>
            <a:ext cx="3284220" cy="685800"/>
          </a:xfrm>
          <a:prstGeom prst="rect">
            <a:avLst/>
          </a:prstGeom>
        </p:spPr>
      </p:pic>
      <p:pic>
        <p:nvPicPr>
          <p:cNvPr id="7" name="Picture 6" descr="A black text with a white background&#10;&#10;Description automatically generated">
            <a:extLst>
              <a:ext uri="{FF2B5EF4-FFF2-40B4-BE49-F238E27FC236}">
                <a16:creationId xmlns:a16="http://schemas.microsoft.com/office/drawing/2014/main" id="{923DB44B-86E1-349A-746A-6F650EF63BA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39" y="4714332"/>
            <a:ext cx="4389120" cy="685800"/>
          </a:xfrm>
          <a:prstGeom prst="roundRect">
            <a:avLst>
              <a:gd name="adj" fmla="val 50000"/>
            </a:avLst>
          </a:prstGeom>
        </p:spPr>
      </p:pic>
    </p:spTree>
    <p:extLst>
      <p:ext uri="{BB962C8B-B14F-4D97-AF65-F5344CB8AC3E}">
        <p14:creationId xmlns:p14="http://schemas.microsoft.com/office/powerpoint/2010/main" val="4058817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white image of a mathematical equation&#10;&#10;Description automatically generated">
            <a:extLst>
              <a:ext uri="{FF2B5EF4-FFF2-40B4-BE49-F238E27FC236}">
                <a16:creationId xmlns:a16="http://schemas.microsoft.com/office/drawing/2014/main" id="{035EF7EB-8356-4652-6CE5-399B2727CB1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739"/>
          <a:stretch/>
        </p:blipFill>
        <p:spPr>
          <a:xfrm>
            <a:off x="955706" y="5422857"/>
            <a:ext cx="3284220" cy="685800"/>
          </a:xfrm>
          <a:prstGeom prst="rect">
            <a:avLst/>
          </a:prstGeom>
        </p:spPr>
      </p:pic>
      <p:pic>
        <p:nvPicPr>
          <p:cNvPr id="4" name="Picture 3" descr="A black text with a white background&#10;&#10;Description automatically generated">
            <a:extLst>
              <a:ext uri="{FF2B5EF4-FFF2-40B4-BE49-F238E27FC236}">
                <a16:creationId xmlns:a16="http://schemas.microsoft.com/office/drawing/2014/main" id="{69DED2A2-D871-A5E8-D4A6-4074F35D89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39" y="4714332"/>
            <a:ext cx="4389120" cy="685800"/>
          </a:xfrm>
          <a:prstGeom prst="roundRect">
            <a:avLst>
              <a:gd name="adj" fmla="val 50000"/>
            </a:avLst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CA309D-4302-5ABF-8387-5B89D0157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989" y="16582"/>
            <a:ext cx="6664354" cy="1325563"/>
          </a:xfrm>
        </p:spPr>
        <p:txBody>
          <a:bodyPr>
            <a:normAutofit/>
          </a:bodyPr>
          <a:lstStyle/>
          <a:p>
            <a:r>
              <a:rPr lang="en-US" sz="3800" dirty="0"/>
              <a:t>Spatial Basis Functions</a:t>
            </a:r>
          </a:p>
        </p:txBody>
      </p:sp>
      <p:pic>
        <p:nvPicPr>
          <p:cNvPr id="37" name="Picture 36" descr="A black text with a plus and a white background&#10;&#10;Description automatically generated">
            <a:extLst>
              <a:ext uri="{FF2B5EF4-FFF2-40B4-BE49-F238E27FC236}">
                <a16:creationId xmlns:a16="http://schemas.microsoft.com/office/drawing/2014/main" id="{2A88721B-A3B6-39FE-E72A-13B62F6EB2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06" y="2427263"/>
            <a:ext cx="6103620" cy="922020"/>
          </a:xfrm>
          <a:prstGeom prst="rect">
            <a:avLst/>
          </a:prstGeom>
        </p:spPr>
      </p:pic>
      <p:pic>
        <p:nvPicPr>
          <p:cNvPr id="39" name="Picture 38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648791D8-50F5-F100-2DB3-8AFAC03506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670" y="3278115"/>
            <a:ext cx="6492240" cy="815340"/>
          </a:xfrm>
          <a:prstGeom prst="rect">
            <a:avLst/>
          </a:prstGeom>
        </p:spPr>
      </p:pic>
      <p:pic>
        <p:nvPicPr>
          <p:cNvPr id="41" name="Picture 40" descr="A black text with a white background&#10;&#10;Description automatically generated">
            <a:extLst>
              <a:ext uri="{FF2B5EF4-FFF2-40B4-BE49-F238E27FC236}">
                <a16:creationId xmlns:a16="http://schemas.microsoft.com/office/drawing/2014/main" id="{99A8FC9D-C36D-E466-6DC4-D7A5B81B3D3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100" y="3995175"/>
            <a:ext cx="4335780" cy="792480"/>
          </a:xfrm>
          <a:prstGeom prst="rect">
            <a:avLst/>
          </a:prstGeom>
        </p:spPr>
      </p:pic>
      <p:pic>
        <p:nvPicPr>
          <p:cNvPr id="49" name="Picture 48" descr="A black text with a white background&#10;&#10;Description automatically generated">
            <a:extLst>
              <a:ext uri="{FF2B5EF4-FFF2-40B4-BE49-F238E27FC236}">
                <a16:creationId xmlns:a16="http://schemas.microsoft.com/office/drawing/2014/main" id="{FD1D8745-2683-7479-249E-2238F678051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459" y="1060743"/>
            <a:ext cx="2880360" cy="693420"/>
          </a:xfrm>
          <a:prstGeom prst="rect">
            <a:avLst/>
          </a:prstGeom>
        </p:spPr>
      </p:pic>
      <p:pic>
        <p:nvPicPr>
          <p:cNvPr id="53" name="Picture 52" descr="A black and white text&#10;&#10;Description automatically generated">
            <a:extLst>
              <a:ext uri="{FF2B5EF4-FFF2-40B4-BE49-F238E27FC236}">
                <a16:creationId xmlns:a16="http://schemas.microsoft.com/office/drawing/2014/main" id="{96FF7ACA-0486-7A10-1EDB-55A79655A7B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39" y="1615975"/>
            <a:ext cx="3947160" cy="89916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22B9FC2-6B3C-BEC1-D86C-776A6AB3CCA1}"/>
              </a:ext>
            </a:extLst>
          </p:cNvPr>
          <p:cNvSpPr/>
          <p:nvPr/>
        </p:nvSpPr>
        <p:spPr>
          <a:xfrm>
            <a:off x="1025645" y="4666961"/>
            <a:ext cx="4520143" cy="784860"/>
          </a:xfrm>
          <a:prstGeom prst="rect">
            <a:avLst/>
          </a:prstGeom>
          <a:solidFill>
            <a:srgbClr val="DF750B">
              <a:alpha val="2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6" name="BasisVideo">
            <a:hlinkClick r:id="" action="ppaction://media"/>
            <a:extLst>
              <a:ext uri="{FF2B5EF4-FFF2-40B4-BE49-F238E27FC236}">
                <a16:creationId xmlns:a16="http://schemas.microsoft.com/office/drawing/2014/main" id="{C2E8F654-F5A9-BCFA-4C24-9B698C89D15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11"/>
          <a:srcRect l="7943" r="8328"/>
          <a:stretch/>
        </p:blipFill>
        <p:spPr>
          <a:xfrm>
            <a:off x="7400956" y="679363"/>
            <a:ext cx="3659409" cy="2566407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C8C0342C-3BAC-311E-AD79-85BB617C0238}"/>
              </a:ext>
            </a:extLst>
          </p:cNvPr>
          <p:cNvPicPr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0956" y="679363"/>
            <a:ext cx="3659410" cy="256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537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701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6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Chart, bubble chart&#10;&#10;Description automatically generated">
            <a:extLst>
              <a:ext uri="{FF2B5EF4-FFF2-40B4-BE49-F238E27FC236}">
                <a16:creationId xmlns:a16="http://schemas.microsoft.com/office/drawing/2014/main" id="{F432B03A-7108-C77B-A772-54AF053847E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6" r="2244" b="48102"/>
          <a:stretch/>
        </p:blipFill>
        <p:spPr>
          <a:xfrm>
            <a:off x="1003984" y="1344613"/>
            <a:ext cx="10375216" cy="4276698"/>
          </a:xfr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F00D674-959D-4CA1-6916-54585389B563}"/>
              </a:ext>
            </a:extLst>
          </p:cNvPr>
          <p:cNvCxnSpPr>
            <a:cxnSpLocks/>
          </p:cNvCxnSpPr>
          <p:nvPr/>
        </p:nvCxnSpPr>
        <p:spPr>
          <a:xfrm>
            <a:off x="2162175" y="2428875"/>
            <a:ext cx="838200" cy="39052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CAAA371-871F-963E-698C-9C3F45BCE06C}"/>
              </a:ext>
            </a:extLst>
          </p:cNvPr>
          <p:cNvCxnSpPr>
            <a:cxnSpLocks/>
          </p:cNvCxnSpPr>
          <p:nvPr/>
        </p:nvCxnSpPr>
        <p:spPr>
          <a:xfrm flipV="1">
            <a:off x="2162175" y="3657600"/>
            <a:ext cx="838200" cy="141763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849AC96-6E1E-00CA-FC7A-2B6453AB26CD}"/>
              </a:ext>
            </a:extLst>
          </p:cNvPr>
          <p:cNvCxnSpPr>
            <a:cxnSpLocks/>
          </p:cNvCxnSpPr>
          <p:nvPr/>
        </p:nvCxnSpPr>
        <p:spPr>
          <a:xfrm>
            <a:off x="2171700" y="4171155"/>
            <a:ext cx="838200" cy="39052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DCA948CA-35C6-9004-4584-4116E9126927}"/>
              </a:ext>
            </a:extLst>
          </p:cNvPr>
          <p:cNvSpPr/>
          <p:nvPr/>
        </p:nvSpPr>
        <p:spPr>
          <a:xfrm>
            <a:off x="3810000" y="2571750"/>
            <a:ext cx="1000125" cy="2686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1F2EC60-E4E9-ECFF-12D5-EABF0AB547A7}"/>
              </a:ext>
            </a:extLst>
          </p:cNvPr>
          <p:cNvSpPr/>
          <p:nvPr/>
        </p:nvSpPr>
        <p:spPr>
          <a:xfrm>
            <a:off x="10573201" y="1476375"/>
            <a:ext cx="1000125" cy="2686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 descr="A close-up of a heat map&#10;&#10;Description automatically generated">
            <a:extLst>
              <a:ext uri="{FF2B5EF4-FFF2-40B4-BE49-F238E27FC236}">
                <a16:creationId xmlns:a16="http://schemas.microsoft.com/office/drawing/2014/main" id="{CBA1187E-58C9-DA92-E886-4ACA787F1D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763" y="1218564"/>
            <a:ext cx="6858000" cy="4572000"/>
          </a:xfrm>
          <a:prstGeom prst="rect">
            <a:avLst/>
          </a:prstGeom>
          <a:ln w="3175">
            <a:noFill/>
          </a:ln>
        </p:spPr>
      </p:pic>
      <p:pic>
        <p:nvPicPr>
          <p:cNvPr id="28" name="Picture 27" descr="A green and blue gradients&#10;&#10;Description automatically generated">
            <a:extLst>
              <a:ext uri="{FF2B5EF4-FFF2-40B4-BE49-F238E27FC236}">
                <a16:creationId xmlns:a16="http://schemas.microsoft.com/office/drawing/2014/main" id="{33303F3D-17A1-D018-74A4-286B2C9ECF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763" y="1218564"/>
            <a:ext cx="6858000" cy="4572000"/>
          </a:xfrm>
          <a:prstGeom prst="rect">
            <a:avLst/>
          </a:prstGeom>
          <a:ln w="3175">
            <a:noFill/>
          </a:ln>
        </p:spPr>
      </p:pic>
      <p:pic>
        <p:nvPicPr>
          <p:cNvPr id="30" name="Picture 29" descr="A close-up of a heat map&#10;&#10;Description automatically generated">
            <a:extLst>
              <a:ext uri="{FF2B5EF4-FFF2-40B4-BE49-F238E27FC236}">
                <a16:creationId xmlns:a16="http://schemas.microsoft.com/office/drawing/2014/main" id="{33577558-DF1C-F404-E258-38D73E63AA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763" y="1218564"/>
            <a:ext cx="6858000" cy="4572000"/>
          </a:xfrm>
          <a:prstGeom prst="rect">
            <a:avLst/>
          </a:prstGeom>
          <a:ln w="3175">
            <a:noFill/>
          </a:ln>
        </p:spPr>
      </p:pic>
      <p:pic>
        <p:nvPicPr>
          <p:cNvPr id="32" name="Picture 31" descr="A graph showing the temperature of a person&#10;&#10;Description automatically generated">
            <a:extLst>
              <a:ext uri="{FF2B5EF4-FFF2-40B4-BE49-F238E27FC236}">
                <a16:creationId xmlns:a16="http://schemas.microsoft.com/office/drawing/2014/main" id="{E030000F-10B0-948A-F0C9-FB6529FF1A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763" y="1218564"/>
            <a:ext cx="6858000" cy="4572000"/>
          </a:xfrm>
          <a:prstGeom prst="rect">
            <a:avLst/>
          </a:prstGeom>
          <a:ln w="3175">
            <a:noFill/>
          </a:ln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DECAE4E-7605-4CCF-CC94-DA514F447E97}"/>
              </a:ext>
            </a:extLst>
          </p:cNvPr>
          <p:cNvCxnSpPr>
            <a:cxnSpLocks/>
          </p:cNvCxnSpPr>
          <p:nvPr/>
        </p:nvCxnSpPr>
        <p:spPr>
          <a:xfrm flipV="1">
            <a:off x="2157413" y="4580730"/>
            <a:ext cx="838200" cy="48616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3D807C0E-DFBA-233A-90EE-FBF9EA184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989" y="16582"/>
            <a:ext cx="6664354" cy="1325563"/>
          </a:xfrm>
        </p:spPr>
        <p:txBody>
          <a:bodyPr>
            <a:normAutofit/>
          </a:bodyPr>
          <a:lstStyle/>
          <a:p>
            <a:r>
              <a:rPr lang="en-US" sz="3800" dirty="0"/>
              <a:t>Spatially Smoothed Weights</a:t>
            </a:r>
          </a:p>
        </p:txBody>
      </p:sp>
    </p:spTree>
    <p:extLst>
      <p:ext uri="{BB962C8B-B14F-4D97-AF65-F5344CB8AC3E}">
        <p14:creationId xmlns:p14="http://schemas.microsoft.com/office/powerpoint/2010/main" val="2008924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A309D-4302-5ABF-8387-5B89D0157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989" y="16582"/>
            <a:ext cx="6664354" cy="1325563"/>
          </a:xfrm>
        </p:spPr>
        <p:txBody>
          <a:bodyPr>
            <a:normAutofit/>
          </a:bodyPr>
          <a:lstStyle/>
          <a:p>
            <a:r>
              <a:rPr lang="en-US" sz="3800" dirty="0"/>
              <a:t>MCMC Sampling</a:t>
            </a:r>
          </a:p>
        </p:txBody>
      </p:sp>
      <p:pic>
        <p:nvPicPr>
          <p:cNvPr id="37" name="Picture 36" descr="A black text with a plus and a white background&#10;&#10;Description automatically generated">
            <a:extLst>
              <a:ext uri="{FF2B5EF4-FFF2-40B4-BE49-F238E27FC236}">
                <a16:creationId xmlns:a16="http://schemas.microsoft.com/office/drawing/2014/main" id="{2A88721B-A3B6-39FE-E72A-13B62F6EB2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06" y="2427263"/>
            <a:ext cx="6103620" cy="922020"/>
          </a:xfrm>
          <a:prstGeom prst="rect">
            <a:avLst/>
          </a:prstGeom>
        </p:spPr>
      </p:pic>
      <p:pic>
        <p:nvPicPr>
          <p:cNvPr id="39" name="Picture 38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648791D8-50F5-F100-2DB3-8AFAC03506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670" y="3278115"/>
            <a:ext cx="6492240" cy="815340"/>
          </a:xfrm>
          <a:prstGeom prst="rect">
            <a:avLst/>
          </a:prstGeom>
        </p:spPr>
      </p:pic>
      <p:pic>
        <p:nvPicPr>
          <p:cNvPr id="41" name="Picture 40" descr="A black text with a white background&#10;&#10;Description automatically generated">
            <a:extLst>
              <a:ext uri="{FF2B5EF4-FFF2-40B4-BE49-F238E27FC236}">
                <a16:creationId xmlns:a16="http://schemas.microsoft.com/office/drawing/2014/main" id="{99A8FC9D-C36D-E466-6DC4-D7A5B81B3D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100" y="3995175"/>
            <a:ext cx="4335780" cy="792480"/>
          </a:xfrm>
          <a:prstGeom prst="rect">
            <a:avLst/>
          </a:prstGeom>
        </p:spPr>
      </p:pic>
      <p:pic>
        <p:nvPicPr>
          <p:cNvPr id="49" name="Picture 48" descr="A black text with a white background&#10;&#10;Description automatically generated">
            <a:extLst>
              <a:ext uri="{FF2B5EF4-FFF2-40B4-BE49-F238E27FC236}">
                <a16:creationId xmlns:a16="http://schemas.microsoft.com/office/drawing/2014/main" id="{FD1D8745-2683-7479-249E-2238F67805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459" y="1060743"/>
            <a:ext cx="2880360" cy="693420"/>
          </a:xfrm>
          <a:prstGeom prst="rect">
            <a:avLst/>
          </a:prstGeom>
        </p:spPr>
      </p:pic>
      <p:pic>
        <p:nvPicPr>
          <p:cNvPr id="53" name="Picture 52" descr="A black and white text&#10;&#10;Description automatically generated">
            <a:extLst>
              <a:ext uri="{FF2B5EF4-FFF2-40B4-BE49-F238E27FC236}">
                <a16:creationId xmlns:a16="http://schemas.microsoft.com/office/drawing/2014/main" id="{96FF7ACA-0486-7A10-1EDB-55A79655A7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39" y="1615975"/>
            <a:ext cx="3947160" cy="8991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DF6521C-EF53-1A14-B3DD-FAAB41C1A24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02880" y="1660664"/>
                <a:ext cx="3799840" cy="364101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Sampling is done using diffuse prior distributions the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bSup>
                  </m:oMath>
                </a14:m>
                <a:r>
                  <a:rPr lang="en-US" dirty="0"/>
                  <a:t> coefficients and then use an adaptive MCMC (Metropolis-Hastings) algorithm to get draws from the posterior distribution for each coefficient. 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DF6521C-EF53-1A14-B3DD-FAAB41C1A2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2880" y="1660664"/>
                <a:ext cx="3799840" cy="3641012"/>
              </a:xfrm>
              <a:prstGeom prst="rect">
                <a:avLst/>
              </a:prstGeom>
              <a:blipFill>
                <a:blip r:embed="rId9"/>
                <a:stretch>
                  <a:fillRect l="-2408" t="-836" r="-2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black and white image of a mathematical equation&#10;&#10;Description automatically generated">
            <a:extLst>
              <a:ext uri="{FF2B5EF4-FFF2-40B4-BE49-F238E27FC236}">
                <a16:creationId xmlns:a16="http://schemas.microsoft.com/office/drawing/2014/main" id="{1C3B012D-7C2C-E66D-753F-30AB2E050EBE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739"/>
          <a:stretch/>
        </p:blipFill>
        <p:spPr>
          <a:xfrm>
            <a:off x="955706" y="5422857"/>
            <a:ext cx="3284220" cy="685800"/>
          </a:xfrm>
          <a:prstGeom prst="rect">
            <a:avLst/>
          </a:prstGeom>
        </p:spPr>
      </p:pic>
      <p:pic>
        <p:nvPicPr>
          <p:cNvPr id="8" name="Picture 7" descr="A black text with a white background&#10;&#10;Description automatically generated">
            <a:extLst>
              <a:ext uri="{FF2B5EF4-FFF2-40B4-BE49-F238E27FC236}">
                <a16:creationId xmlns:a16="http://schemas.microsoft.com/office/drawing/2014/main" id="{93B4E6DA-1B73-0972-B4EB-D9E51016381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39" y="4714332"/>
            <a:ext cx="4389120" cy="685800"/>
          </a:xfrm>
          <a:prstGeom prst="roundRect">
            <a:avLst>
              <a:gd name="adj" fmla="val 50000"/>
            </a:avLst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22B9FC2-6B3C-BEC1-D86C-776A6AB3CCA1}"/>
              </a:ext>
            </a:extLst>
          </p:cNvPr>
          <p:cNvSpPr/>
          <p:nvPr/>
        </p:nvSpPr>
        <p:spPr>
          <a:xfrm>
            <a:off x="1025646" y="5404897"/>
            <a:ext cx="3068834" cy="784860"/>
          </a:xfrm>
          <a:prstGeom prst="rect">
            <a:avLst/>
          </a:prstGeom>
          <a:solidFill>
            <a:srgbClr val="DF750B">
              <a:alpha val="2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6552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057CD-3B48-0498-7962-02338B8DA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704" y="157548"/>
            <a:ext cx="4486101" cy="1749873"/>
          </a:xfrm>
        </p:spPr>
        <p:txBody>
          <a:bodyPr>
            <a:noAutofit/>
          </a:bodyPr>
          <a:lstStyle/>
          <a:p>
            <a:r>
              <a:rPr lang="en-US" sz="3800" dirty="0"/>
              <a:t>Constraints for Identifiability and interpretability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B8D89F-179A-1004-04D5-54552D92E3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6705" y="1951423"/>
            <a:ext cx="5469882" cy="2776573"/>
          </a:xfrm>
        </p:spPr>
        <p:txBody>
          <a:bodyPr>
            <a:normAutofit/>
          </a:bodyPr>
          <a:lstStyle/>
          <a:p>
            <a:r>
              <a:rPr lang="en-US" sz="2400" dirty="0"/>
              <a:t>Because autoencoders are often not interpretable nor identifiable, we borrowed a constraining technique from Confirmatory Factor Analysis (CFA).</a:t>
            </a:r>
          </a:p>
        </p:txBody>
      </p:sp>
      <p:pic>
        <p:nvPicPr>
          <p:cNvPr id="12" name="Picture 11" descr="A diagram of a number of individuals&#10;&#10;Description automatically generated">
            <a:extLst>
              <a:ext uri="{FF2B5EF4-FFF2-40B4-BE49-F238E27FC236}">
                <a16:creationId xmlns:a16="http://schemas.microsoft.com/office/drawing/2014/main" id="{6E454C20-70AC-ADDF-5B4B-81EDFAA16AC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91" t="14400" r="18800" b="28321"/>
          <a:stretch/>
        </p:blipFill>
        <p:spPr>
          <a:xfrm>
            <a:off x="1207666" y="3911413"/>
            <a:ext cx="4719662" cy="2946587"/>
          </a:xfrm>
          <a:prstGeom prst="rect">
            <a:avLst/>
          </a:prstGeom>
        </p:spPr>
      </p:pic>
      <p:pic>
        <p:nvPicPr>
          <p:cNvPr id="5" name="Picture 4" descr="A diagram of a number of words&#10;&#10;Description automatically generated with medium confidence">
            <a:extLst>
              <a:ext uri="{FF2B5EF4-FFF2-40B4-BE49-F238E27FC236}">
                <a16:creationId xmlns:a16="http://schemas.microsoft.com/office/drawing/2014/main" id="{410E8163-B82F-6335-1876-90D59D5CA37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02"/>
          <a:stretch/>
        </p:blipFill>
        <p:spPr>
          <a:xfrm>
            <a:off x="6043651" y="925109"/>
            <a:ext cx="5554331" cy="2439486"/>
          </a:xfrm>
          <a:prstGeom prst="roundRect">
            <a:avLst>
              <a:gd name="adj" fmla="val 32996"/>
            </a:avLst>
          </a:prstGeom>
        </p:spPr>
      </p:pic>
      <p:pic>
        <p:nvPicPr>
          <p:cNvPr id="6" name="Picture 5" descr="A diagram of a structure&#10;&#10;Description automatically generated">
            <a:extLst>
              <a:ext uri="{FF2B5EF4-FFF2-40B4-BE49-F238E27FC236}">
                <a16:creationId xmlns:a16="http://schemas.microsoft.com/office/drawing/2014/main" id="{8A1796A0-34D3-4BC1-FBBC-965056CDD0B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18" t="-1698" r="921" b="4122"/>
          <a:stretch/>
        </p:blipFill>
        <p:spPr>
          <a:xfrm>
            <a:off x="6938124" y="3632044"/>
            <a:ext cx="4338320" cy="3032916"/>
          </a:xfrm>
          <a:prstGeom prst="round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8174A00-4EA9-5444-0EE9-DB9AA8F6ACAE}"/>
              </a:ext>
            </a:extLst>
          </p:cNvPr>
          <p:cNvSpPr/>
          <p:nvPr/>
        </p:nvSpPr>
        <p:spPr>
          <a:xfrm>
            <a:off x="6677548" y="5130800"/>
            <a:ext cx="485252" cy="8020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788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&#10;&#10;Description automatically generated">
            <a:extLst>
              <a:ext uri="{FF2B5EF4-FFF2-40B4-BE49-F238E27FC236}">
                <a16:creationId xmlns:a16="http://schemas.microsoft.com/office/drawing/2014/main" id="{0917E180-63BE-B578-F7FC-B22459A77F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931" y="322771"/>
            <a:ext cx="9438969" cy="6292646"/>
          </a:xfrm>
          <a:prstGeom prst="rect">
            <a:avLst/>
          </a:prstGeom>
        </p:spPr>
      </p:pic>
      <p:pic>
        <p:nvPicPr>
          <p:cNvPr id="4" name="Picture 3" descr="A picture containing text, map, screenshot&#10;&#10;Description automatically generated">
            <a:extLst>
              <a:ext uri="{FF2B5EF4-FFF2-40B4-BE49-F238E27FC236}">
                <a16:creationId xmlns:a16="http://schemas.microsoft.com/office/drawing/2014/main" id="{4352C101-B74B-C87E-219F-75D9DB8061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931" y="322771"/>
            <a:ext cx="9438969" cy="6292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698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3F84A-1559-62AF-4750-3681B2992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936" y="234472"/>
            <a:ext cx="10515600" cy="921169"/>
          </a:xfrm>
        </p:spPr>
        <p:txBody>
          <a:bodyPr>
            <a:normAutofit/>
          </a:bodyPr>
          <a:lstStyle/>
          <a:p>
            <a:r>
              <a:rPr lang="en-US" sz="3800" dirty="0"/>
              <a:t>Consensus Features</a:t>
            </a:r>
          </a:p>
        </p:txBody>
      </p:sp>
      <p:pic>
        <p:nvPicPr>
          <p:cNvPr id="32" name="Picture 31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D04E2DF9-C5D8-94EB-9D03-EF04C3FD8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9075" y="4122533"/>
            <a:ext cx="3429000" cy="2286000"/>
          </a:xfrm>
          <a:prstGeom prst="rect">
            <a:avLst/>
          </a:prstGeom>
        </p:spPr>
      </p:pic>
      <p:pic>
        <p:nvPicPr>
          <p:cNvPr id="34" name="Picture 33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BE38E04D-22FB-1520-43F9-ACB1F33493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583" y="4122533"/>
            <a:ext cx="3429000" cy="2286000"/>
          </a:xfrm>
          <a:prstGeom prst="rect">
            <a:avLst/>
          </a:prstGeom>
        </p:spPr>
      </p:pic>
      <p:pic>
        <p:nvPicPr>
          <p:cNvPr id="36" name="Picture 35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1C4DB268-7F9E-83CF-1B25-AAB64DA2DC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0025" y="1341648"/>
            <a:ext cx="3429000" cy="2286000"/>
          </a:xfrm>
          <a:prstGeom prst="rect">
            <a:avLst/>
          </a:prstGeom>
        </p:spPr>
      </p:pic>
      <p:pic>
        <p:nvPicPr>
          <p:cNvPr id="38" name="Picture 37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2B1E5189-6E18-AC40-E799-AA3DC6A69F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583" y="1317419"/>
            <a:ext cx="3429000" cy="2286000"/>
          </a:xfrm>
          <a:prstGeom prst="rect">
            <a:avLst/>
          </a:prstGeom>
        </p:spPr>
      </p:pic>
      <p:pic>
        <p:nvPicPr>
          <p:cNvPr id="39" name="Picture 38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964B20CF-8C06-9E00-5182-F0F678A550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583" y="1341648"/>
            <a:ext cx="3429000" cy="2286000"/>
          </a:xfrm>
          <a:prstGeom prst="rect">
            <a:avLst/>
          </a:prstGeom>
        </p:spPr>
      </p:pic>
      <p:pic>
        <p:nvPicPr>
          <p:cNvPr id="5" name="Picture 4" descr="Graphical user interface&#10;&#10;Description automatically generated">
            <a:extLst>
              <a:ext uri="{FF2B5EF4-FFF2-40B4-BE49-F238E27FC236}">
                <a16:creationId xmlns:a16="http://schemas.microsoft.com/office/drawing/2014/main" id="{16670740-BC65-2154-BCF8-0A271BA5170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2926" y="1930726"/>
            <a:ext cx="5163451" cy="3442301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13BE55-CB8C-8948-C949-14EDCB487FA8}"/>
              </a:ext>
            </a:extLst>
          </p:cNvPr>
          <p:cNvSpPr txBox="1">
            <a:spLocks/>
          </p:cNvSpPr>
          <p:nvPr/>
        </p:nvSpPr>
        <p:spPr>
          <a:xfrm>
            <a:off x="734596" y="1021942"/>
            <a:ext cx="2124075" cy="4843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APHRODITE</a:t>
            </a:r>
            <a:endParaRPr lang="en-US" sz="2000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A372177-9BE7-184C-54D7-DE8928655F2E}"/>
              </a:ext>
            </a:extLst>
          </p:cNvPr>
          <p:cNvSpPr txBox="1">
            <a:spLocks/>
          </p:cNvSpPr>
          <p:nvPr/>
        </p:nvSpPr>
        <p:spPr>
          <a:xfrm>
            <a:off x="9302485" y="913447"/>
            <a:ext cx="2124075" cy="4843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TRMM</a:t>
            </a:r>
            <a:endParaRPr lang="en-US" sz="2000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F459ED52-6560-E87D-3EDA-123198A15FDD}"/>
              </a:ext>
            </a:extLst>
          </p:cNvPr>
          <p:cNvSpPr txBox="1">
            <a:spLocks/>
          </p:cNvSpPr>
          <p:nvPr/>
        </p:nvSpPr>
        <p:spPr>
          <a:xfrm>
            <a:off x="727338" y="3765197"/>
            <a:ext cx="2124075" cy="4843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MERRA-2</a:t>
            </a:r>
            <a:endParaRPr lang="en-US" sz="2000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D8AC606F-4CFF-881F-F758-A3EA923B5811}"/>
              </a:ext>
            </a:extLst>
          </p:cNvPr>
          <p:cNvSpPr txBox="1">
            <a:spLocks/>
          </p:cNvSpPr>
          <p:nvPr/>
        </p:nvSpPr>
        <p:spPr>
          <a:xfrm>
            <a:off x="9302485" y="3783703"/>
            <a:ext cx="2124075" cy="4843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ERA5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213340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9254FF0-4E4C-F66F-DCF7-834BC55EE416}"/>
              </a:ext>
            </a:extLst>
          </p:cNvPr>
          <p:cNvSpPr/>
          <p:nvPr/>
        </p:nvSpPr>
        <p:spPr>
          <a:xfrm>
            <a:off x="493871" y="1118565"/>
            <a:ext cx="263524" cy="7352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783CAF-8BDB-C9A9-7364-2C2E1CB10143}"/>
              </a:ext>
            </a:extLst>
          </p:cNvPr>
          <p:cNvSpPr/>
          <p:nvPr/>
        </p:nvSpPr>
        <p:spPr>
          <a:xfrm>
            <a:off x="0" y="1437729"/>
            <a:ext cx="12192000" cy="54202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3EAD58-4269-99F1-A9E2-D60BFE7ED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4763" y="-40841"/>
            <a:ext cx="9905998" cy="1478570"/>
          </a:xfrm>
        </p:spPr>
        <p:txBody>
          <a:bodyPr>
            <a:normAutofit/>
          </a:bodyPr>
          <a:lstStyle/>
          <a:p>
            <a:r>
              <a:rPr lang="en-US" sz="3800" dirty="0"/>
              <a:t>Measuring Contribution</a:t>
            </a:r>
          </a:p>
        </p:txBody>
      </p:sp>
      <p:pic>
        <p:nvPicPr>
          <p:cNvPr id="15" name="Picture 14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74B714A9-5FB9-05AC-3E1D-790F22756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4674" y="1642096"/>
            <a:ext cx="2953512" cy="2286000"/>
          </a:xfrm>
          <a:prstGeom prst="rect">
            <a:avLst/>
          </a:prstGeom>
        </p:spPr>
      </p:pic>
      <p:pic>
        <p:nvPicPr>
          <p:cNvPr id="16" name="Picture 15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DA6C26FF-FE58-0F06-F372-42978E6BFA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5160" y="1642096"/>
            <a:ext cx="2953512" cy="2286000"/>
          </a:xfrm>
          <a:prstGeom prst="rect">
            <a:avLst/>
          </a:prstGeom>
        </p:spPr>
      </p:pic>
      <p:pic>
        <p:nvPicPr>
          <p:cNvPr id="17" name="Picture 16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71DC8C36-CE9A-EF7D-3B2C-C7BE3B8D69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0266" y="1592186"/>
            <a:ext cx="2953512" cy="2286000"/>
          </a:xfrm>
          <a:prstGeom prst="rect">
            <a:avLst/>
          </a:prstGeom>
        </p:spPr>
      </p:pic>
      <p:pic>
        <p:nvPicPr>
          <p:cNvPr id="18" name="Picture 17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366DE704-AF64-ADA3-6BEB-D96CCCFB1F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4" y="1592186"/>
            <a:ext cx="2953512" cy="2286000"/>
          </a:xfrm>
          <a:prstGeom prst="rect">
            <a:avLst/>
          </a:prstGeom>
        </p:spPr>
      </p:pic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90C73CB-135F-10D3-BDC6-D10FBE45671E}"/>
              </a:ext>
            </a:extLst>
          </p:cNvPr>
          <p:cNvSpPr txBox="1">
            <a:spLocks/>
          </p:cNvSpPr>
          <p:nvPr/>
        </p:nvSpPr>
        <p:spPr>
          <a:xfrm>
            <a:off x="481345" y="1127384"/>
            <a:ext cx="2124075" cy="4843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dirty="0"/>
              <a:t>APHRODITE</a:t>
            </a:r>
            <a:endParaRPr lang="en-US" sz="2000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F5BA5173-498F-B870-8469-FCFFDBAA477E}"/>
              </a:ext>
            </a:extLst>
          </p:cNvPr>
          <p:cNvSpPr txBox="1">
            <a:spLocks/>
          </p:cNvSpPr>
          <p:nvPr/>
        </p:nvSpPr>
        <p:spPr>
          <a:xfrm>
            <a:off x="3488370" y="1145625"/>
            <a:ext cx="2124075" cy="4843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dirty="0"/>
              <a:t>TRMM</a:t>
            </a:r>
            <a:endParaRPr lang="en-US" sz="2000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CEFD4A2-0630-28C0-5A70-C5052561879E}"/>
              </a:ext>
            </a:extLst>
          </p:cNvPr>
          <p:cNvSpPr txBox="1">
            <a:spLocks/>
          </p:cNvSpPr>
          <p:nvPr/>
        </p:nvSpPr>
        <p:spPr>
          <a:xfrm>
            <a:off x="6516784" y="1118565"/>
            <a:ext cx="2124075" cy="4843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dirty="0"/>
              <a:t>MERRA-2</a:t>
            </a:r>
            <a:endParaRPr lang="en-US" sz="2000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03E0146-9FCD-49BE-8822-E8A9B4FC6430}"/>
              </a:ext>
            </a:extLst>
          </p:cNvPr>
          <p:cNvSpPr txBox="1">
            <a:spLocks/>
          </p:cNvSpPr>
          <p:nvPr/>
        </p:nvSpPr>
        <p:spPr>
          <a:xfrm>
            <a:off x="9574054" y="1118565"/>
            <a:ext cx="2124075" cy="4843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dirty="0"/>
              <a:t>ERA5</a:t>
            </a:r>
            <a:endParaRPr lang="en-US" sz="2000" dirty="0"/>
          </a:p>
        </p:txBody>
      </p:sp>
      <p:pic>
        <p:nvPicPr>
          <p:cNvPr id="22" name="Picture 21" descr="A close-up of several clouds&#10;&#10;Description automatically generated">
            <a:extLst>
              <a:ext uri="{FF2B5EF4-FFF2-40B4-BE49-F238E27FC236}">
                <a16:creationId xmlns:a16="http://schemas.microsoft.com/office/drawing/2014/main" id="{03BAC86C-0C5E-2273-8095-A06B6714939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97" r="55529" b="50123"/>
          <a:stretch/>
        </p:blipFill>
        <p:spPr>
          <a:xfrm>
            <a:off x="0" y="4286920"/>
            <a:ext cx="2650435" cy="1819840"/>
          </a:xfrm>
          <a:prstGeom prst="rect">
            <a:avLst/>
          </a:prstGeom>
        </p:spPr>
      </p:pic>
      <p:pic>
        <p:nvPicPr>
          <p:cNvPr id="26" name="Picture 25" descr="A close-up of several clouds&#10;&#10;Description automatically generated">
            <a:extLst>
              <a:ext uri="{FF2B5EF4-FFF2-40B4-BE49-F238E27FC236}">
                <a16:creationId xmlns:a16="http://schemas.microsoft.com/office/drawing/2014/main" id="{81D8C8DE-C8CE-83BE-F74E-E40019C83A7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99" t="54189" r="11630" b="31"/>
          <a:stretch/>
        </p:blipFill>
        <p:spPr>
          <a:xfrm>
            <a:off x="2979495" y="4286920"/>
            <a:ext cx="2650435" cy="1819840"/>
          </a:xfrm>
          <a:prstGeom prst="rect">
            <a:avLst/>
          </a:prstGeom>
        </p:spPr>
      </p:pic>
      <p:pic>
        <p:nvPicPr>
          <p:cNvPr id="27" name="Picture 26" descr="A close-up of several clouds&#10;&#10;Description automatically generated">
            <a:extLst>
              <a:ext uri="{FF2B5EF4-FFF2-40B4-BE49-F238E27FC236}">
                <a16:creationId xmlns:a16="http://schemas.microsoft.com/office/drawing/2014/main" id="{B72DCFF3-CE6C-E428-7904-C04CC422AE4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939" t="4091" r="11590" b="50129"/>
          <a:stretch/>
        </p:blipFill>
        <p:spPr>
          <a:xfrm>
            <a:off x="5960854" y="4281240"/>
            <a:ext cx="2650435" cy="1819840"/>
          </a:xfrm>
          <a:prstGeom prst="rect">
            <a:avLst/>
          </a:prstGeom>
        </p:spPr>
      </p:pic>
      <p:pic>
        <p:nvPicPr>
          <p:cNvPr id="28" name="Picture 27" descr="A close-up of several clouds&#10;&#10;Description automatically generated">
            <a:extLst>
              <a:ext uri="{FF2B5EF4-FFF2-40B4-BE49-F238E27FC236}">
                <a16:creationId xmlns:a16="http://schemas.microsoft.com/office/drawing/2014/main" id="{B4FBDD15-FD4C-E9A9-DB40-F8A503E2709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9" t="54131" r="55608" b="89"/>
          <a:stretch/>
        </p:blipFill>
        <p:spPr>
          <a:xfrm>
            <a:off x="9052404" y="4276160"/>
            <a:ext cx="2650435" cy="1819840"/>
          </a:xfrm>
          <a:prstGeom prst="rect">
            <a:avLst/>
          </a:prstGeom>
        </p:spPr>
      </p:pic>
      <p:pic>
        <p:nvPicPr>
          <p:cNvPr id="29" name="Picture 28" descr="A close-up of several clouds&#10;&#10;Description automatically generated">
            <a:extLst>
              <a:ext uri="{FF2B5EF4-FFF2-40B4-BE49-F238E27FC236}">
                <a16:creationId xmlns:a16="http://schemas.microsoft.com/office/drawing/2014/main" id="{8D5EB7D7-7A6C-236F-83E9-58BD3459AF7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115" t="38026" r="1113" b="39769"/>
          <a:stretch/>
        </p:blipFill>
        <p:spPr>
          <a:xfrm>
            <a:off x="11698129" y="4657071"/>
            <a:ext cx="463229" cy="882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075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nature&#10;&#10;Description automatically generated">
            <a:extLst>
              <a:ext uri="{FF2B5EF4-FFF2-40B4-BE49-F238E27FC236}">
                <a16:creationId xmlns:a16="http://schemas.microsoft.com/office/drawing/2014/main" id="{90781828-0E95-7DB3-E9BD-D263ECBB640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468"/>
          <a:stretch/>
        </p:blipFill>
        <p:spPr>
          <a:xfrm>
            <a:off x="6496050" y="1829056"/>
            <a:ext cx="4899481" cy="37746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5DBB24-90EC-0131-D7FE-11DD7889E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50" y="171576"/>
            <a:ext cx="10515600" cy="1110588"/>
          </a:xfrm>
        </p:spPr>
        <p:txBody>
          <a:bodyPr>
            <a:normAutofit/>
          </a:bodyPr>
          <a:lstStyle/>
          <a:p>
            <a:r>
              <a:rPr lang="en-US" sz="3800" dirty="0"/>
              <a:t>difference between techniques</a:t>
            </a:r>
          </a:p>
        </p:txBody>
      </p:sp>
      <p:pic>
        <p:nvPicPr>
          <p:cNvPr id="15" name="Picture 14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F1D1F5E4-7D48-0430-3573-0A482AADB7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469" y="1829055"/>
            <a:ext cx="5662003" cy="3774669"/>
          </a:xfrm>
          <a:prstGeom prst="rect">
            <a:avLst/>
          </a:prstGeom>
        </p:spPr>
      </p:pic>
      <p:pic>
        <p:nvPicPr>
          <p:cNvPr id="17" name="Picture 16" descr="A picture containing text, nature&#10;&#10;Description automatically generated">
            <a:extLst>
              <a:ext uri="{FF2B5EF4-FFF2-40B4-BE49-F238E27FC236}">
                <a16:creationId xmlns:a16="http://schemas.microsoft.com/office/drawing/2014/main" id="{AE5D0DDD-ED74-494E-81BF-A3877F5FDC2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389"/>
          <a:stretch/>
        </p:blipFill>
        <p:spPr>
          <a:xfrm>
            <a:off x="6496050" y="1740156"/>
            <a:ext cx="5662001" cy="251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4942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00183-10A4-8CF1-7131-5125FEB01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343" y="-16546"/>
            <a:ext cx="9905998" cy="1478570"/>
          </a:xfrm>
        </p:spPr>
        <p:txBody>
          <a:bodyPr>
            <a:normAutofit/>
          </a:bodyPr>
          <a:lstStyle/>
          <a:p>
            <a:r>
              <a:rPr lang="en-US" sz="3800" dirty="0"/>
              <a:t>Uncertainty Quantifications</a:t>
            </a:r>
          </a:p>
        </p:txBody>
      </p:sp>
      <p:pic>
        <p:nvPicPr>
          <p:cNvPr id="5" name="Content Placeholder 4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FBFCEE08-21C4-E07E-2EAA-B59A68BD4F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18" y="1589164"/>
            <a:ext cx="5300433" cy="3533622"/>
          </a:xfrm>
        </p:spPr>
      </p:pic>
      <p:pic>
        <p:nvPicPr>
          <p:cNvPr id="7" name="Picture 6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E8FE5A25-EFBC-2660-EF2D-3D753E2803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4342" y="1589164"/>
            <a:ext cx="5300433" cy="35336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169D22C-94FB-0949-50AD-F17217B4EA7C}"/>
              </a:ext>
            </a:extLst>
          </p:cNvPr>
          <p:cNvSpPr txBox="1"/>
          <p:nvPr/>
        </p:nvSpPr>
        <p:spPr>
          <a:xfrm>
            <a:off x="2749699" y="5809889"/>
            <a:ext cx="66926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95% Credible Interval on the Autoencoder Consensus</a:t>
            </a:r>
          </a:p>
        </p:txBody>
      </p:sp>
    </p:spTree>
    <p:extLst>
      <p:ext uri="{BB962C8B-B14F-4D97-AF65-F5344CB8AC3E}">
        <p14:creationId xmlns:p14="http://schemas.microsoft.com/office/powerpoint/2010/main" val="456867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A309D-4302-5ABF-8387-5B89D0157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989" y="16582"/>
            <a:ext cx="7904358" cy="1325563"/>
          </a:xfrm>
        </p:spPr>
        <p:txBody>
          <a:bodyPr>
            <a:normAutofit/>
          </a:bodyPr>
          <a:lstStyle/>
          <a:p>
            <a:r>
              <a:rPr lang="en-US" sz="3800" dirty="0"/>
              <a:t>Summary 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4BA43599-457D-3E34-13C9-CFD7DC9B94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1497199"/>
            <a:ext cx="10082599" cy="45351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We propose a Bayesian autoencoder that combines various data products in  way that captures unique spatial features.</a:t>
            </a:r>
          </a:p>
          <a:p>
            <a:pPr lvl="1"/>
            <a:r>
              <a:rPr lang="en-US" sz="2400" dirty="0"/>
              <a:t>Our model includes spatial correlation by constructing the autoencoder weights with spatial basis functions. </a:t>
            </a:r>
          </a:p>
          <a:p>
            <a:pPr lvl="1"/>
            <a:r>
              <a:rPr lang="en-US" sz="2400" dirty="0"/>
              <a:t>The Consensus node at the center of our autoencoder is made interpretable by constraints inspired by confirmatory factory analysis. </a:t>
            </a:r>
          </a:p>
          <a:p>
            <a:pPr lvl="1"/>
            <a:r>
              <a:rPr lang="en-US" sz="2400" dirty="0"/>
              <a:t>Using a Bayesian framework allows for uncertainty quantifications</a:t>
            </a:r>
          </a:p>
        </p:txBody>
      </p:sp>
    </p:spTree>
    <p:extLst>
      <p:ext uri="{BB962C8B-B14F-4D97-AF65-F5344CB8AC3E}">
        <p14:creationId xmlns:p14="http://schemas.microsoft.com/office/powerpoint/2010/main" val="41642978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2477DC0B-A6E5-098F-9AB0-88B5598922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020" y="745913"/>
            <a:ext cx="9187180" cy="61247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19BF31-EFC5-075A-0DF8-2838E8498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2322" y="57498"/>
            <a:ext cx="9906000" cy="776288"/>
          </a:xfrm>
        </p:spPr>
        <p:txBody>
          <a:bodyPr>
            <a:normAutofit/>
          </a:bodyPr>
          <a:lstStyle/>
          <a:p>
            <a:r>
              <a:rPr lang="en-US" sz="3800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488905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902BA2-BB74-5AA7-2D2A-478AD24ACD4C}"/>
              </a:ext>
            </a:extLst>
          </p:cNvPr>
          <p:cNvSpPr txBox="1"/>
          <p:nvPr/>
        </p:nvSpPr>
        <p:spPr>
          <a:xfrm>
            <a:off x="1103665" y="1151753"/>
            <a:ext cx="455996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Read the Full Paper on </a:t>
            </a:r>
            <a:r>
              <a:rPr lang="en-US" sz="3000" dirty="0" err="1"/>
              <a:t>arXiv</a:t>
            </a:r>
            <a:endParaRPr lang="en-US" sz="3000" dirty="0"/>
          </a:p>
        </p:txBody>
      </p:sp>
      <p:pic>
        <p:nvPicPr>
          <p:cNvPr id="5" name="Picture 4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30D20440-07CF-8776-53E5-67E02652A6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9553" y="1916995"/>
            <a:ext cx="3657600" cy="3657600"/>
          </a:xfrm>
          <a:prstGeom prst="rect">
            <a:avLst/>
          </a:prstGeom>
        </p:spPr>
      </p:pic>
      <p:pic>
        <p:nvPicPr>
          <p:cNvPr id="6" name="Picture 5" descr="A qr code with black squares&#10;&#10;Description automatically generated">
            <a:extLst>
              <a:ext uri="{FF2B5EF4-FFF2-40B4-BE49-F238E27FC236}">
                <a16:creationId xmlns:a16="http://schemas.microsoft.com/office/drawing/2014/main" id="{1A554FB2-D41D-C66E-1818-484648B933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848" y="1938538"/>
            <a:ext cx="3657600" cy="3657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B11935-71B9-867D-0F56-1FBDF1D2E991}"/>
              </a:ext>
            </a:extLst>
          </p:cNvPr>
          <p:cNvSpPr txBox="1"/>
          <p:nvPr/>
        </p:nvSpPr>
        <p:spPr>
          <a:xfrm>
            <a:off x="6299461" y="1151753"/>
            <a:ext cx="501778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Code Files Available on GitHub</a:t>
            </a:r>
          </a:p>
        </p:txBody>
      </p:sp>
    </p:spTree>
    <p:extLst>
      <p:ext uri="{BB962C8B-B14F-4D97-AF65-F5344CB8AC3E}">
        <p14:creationId xmlns:p14="http://schemas.microsoft.com/office/powerpoint/2010/main" val="12352739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00183-10A4-8CF1-7131-5125FEB01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344" y="0"/>
            <a:ext cx="9905998" cy="1478570"/>
          </a:xfrm>
        </p:spPr>
        <p:txBody>
          <a:bodyPr>
            <a:normAutofit/>
          </a:bodyPr>
          <a:lstStyle/>
          <a:p>
            <a:r>
              <a:rPr lang="en-US" sz="3800" dirty="0"/>
              <a:t>Uncertainty Quantifications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69D22C-94FB-0949-50AD-F17217B4EA7C}"/>
              </a:ext>
            </a:extLst>
          </p:cNvPr>
          <p:cNvSpPr txBox="1"/>
          <p:nvPr/>
        </p:nvSpPr>
        <p:spPr>
          <a:xfrm>
            <a:off x="4201218" y="5915335"/>
            <a:ext cx="37895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95% Credible Interval Width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B891E6-86E8-D0C0-9CDB-F5CBBDCE0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3412" y="1309044"/>
            <a:ext cx="6425177" cy="427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3330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8886F11-1098-3F4B-15E9-78C3AF79F9F8}"/>
              </a:ext>
            </a:extLst>
          </p:cNvPr>
          <p:cNvSpPr/>
          <p:nvPr/>
        </p:nvSpPr>
        <p:spPr>
          <a:xfrm>
            <a:off x="11029664" y="0"/>
            <a:ext cx="1090377" cy="15906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5E176298-B3AD-0537-7D54-55178AF3B4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341" y="1328892"/>
            <a:ext cx="3771900" cy="2514600"/>
          </a:xfrm>
          <a:prstGeom prst="rect">
            <a:avLst/>
          </a:prstGeom>
        </p:spPr>
      </p:pic>
      <p:pic>
        <p:nvPicPr>
          <p:cNvPr id="5" name="Content Placeholder 4" descr="Graphical user interface&#10;&#10;Description automatically generated">
            <a:extLst>
              <a:ext uri="{FF2B5EF4-FFF2-40B4-BE49-F238E27FC236}">
                <a16:creationId xmlns:a16="http://schemas.microsoft.com/office/drawing/2014/main" id="{3F047011-DB28-1B94-FFFF-36421FB2ED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241" y="1361618"/>
            <a:ext cx="3771902" cy="2514601"/>
          </a:xfrm>
        </p:spPr>
      </p:pic>
      <p:pic>
        <p:nvPicPr>
          <p:cNvPr id="9" name="Picture 8" descr="Graphical user interface&#10;&#10;Description automatically generated">
            <a:extLst>
              <a:ext uri="{FF2B5EF4-FFF2-40B4-BE49-F238E27FC236}">
                <a16:creationId xmlns:a16="http://schemas.microsoft.com/office/drawing/2014/main" id="{3188B2FB-7FDE-C0BB-9B5C-86EC107D18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8141" y="1371706"/>
            <a:ext cx="3747366" cy="24982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5DBB24-90EC-0131-D7FE-11DD7889E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50" y="171576"/>
            <a:ext cx="10515600" cy="1110588"/>
          </a:xfrm>
        </p:spPr>
        <p:txBody>
          <a:bodyPr>
            <a:normAutofit/>
          </a:bodyPr>
          <a:lstStyle/>
          <a:p>
            <a:r>
              <a:rPr lang="en-US" sz="3800" dirty="0"/>
              <a:t>difference between techniques</a:t>
            </a:r>
          </a:p>
        </p:txBody>
      </p:sp>
      <p:pic>
        <p:nvPicPr>
          <p:cNvPr id="15" name="Picture 14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F1D1F5E4-7D48-0430-3573-0A482AADB7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4100" y="4171824"/>
            <a:ext cx="3771900" cy="2514600"/>
          </a:xfrm>
          <a:prstGeom prst="rect">
            <a:avLst/>
          </a:prstGeom>
        </p:spPr>
      </p:pic>
      <p:pic>
        <p:nvPicPr>
          <p:cNvPr id="17" name="Picture 16" descr="A picture containing text, nature&#10;&#10;Description automatically generated">
            <a:extLst>
              <a:ext uri="{FF2B5EF4-FFF2-40B4-BE49-F238E27FC236}">
                <a16:creationId xmlns:a16="http://schemas.microsoft.com/office/drawing/2014/main" id="{AE5D0DDD-ED74-494E-81BF-A3877F5FDC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217" y="4171824"/>
            <a:ext cx="3771900" cy="2514600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7DF6D648-3AD8-DD4B-7D17-9451AC53A2DE}"/>
              </a:ext>
            </a:extLst>
          </p:cNvPr>
          <p:cNvGrpSpPr/>
          <p:nvPr/>
        </p:nvGrpSpPr>
        <p:grpSpPr>
          <a:xfrm>
            <a:off x="3478530" y="1080570"/>
            <a:ext cx="731520" cy="731520"/>
            <a:chOff x="238431" y="4710896"/>
            <a:chExt cx="731520" cy="73152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8693A92-6167-0932-4649-AE0AC4C06D11}"/>
                </a:ext>
              </a:extLst>
            </p:cNvPr>
            <p:cNvSpPr/>
            <p:nvPr/>
          </p:nvSpPr>
          <p:spPr>
            <a:xfrm>
              <a:off x="238431" y="4710896"/>
              <a:ext cx="731520" cy="73152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F9D2E4F-3F88-DCC3-9EC0-BCC12E7D8BF0}"/>
                    </a:ext>
                  </a:extLst>
                </p:cNvPr>
                <p:cNvSpPr txBox="1"/>
                <p:nvPr/>
              </p:nvSpPr>
              <p:spPr>
                <a:xfrm>
                  <a:off x="268334" y="4792717"/>
                  <a:ext cx="679048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</m:oMath>
                    </m:oMathPara>
                  </a14:m>
                  <a:endParaRPr lang="en-US" sz="1600" b="0" dirty="0">
                    <a:solidFill>
                      <a:schemeClr val="bg1"/>
                    </a:solidFill>
                  </a:endParaRPr>
                </a:p>
                <a:p>
                  <a:pPr algn="ctr"/>
                  <a:r>
                    <a:rPr lang="en-US" sz="1600" dirty="0">
                      <a:solidFill>
                        <a:schemeClr val="bg1"/>
                      </a:solidFill>
                    </a:rPr>
                    <a:t>0.665</a:t>
                  </a: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F9D2E4F-3F88-DCC3-9EC0-BCC12E7D8B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334" y="4792717"/>
                  <a:ext cx="679048" cy="584775"/>
                </a:xfrm>
                <a:prstGeom prst="rect">
                  <a:avLst/>
                </a:prstGeom>
                <a:blipFill>
                  <a:blip r:embed="rId7"/>
                  <a:stretch>
                    <a:fillRect l="-3604" r="-1802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E15639B-1BC4-5246-0A05-5F2D36CC2F15}"/>
              </a:ext>
            </a:extLst>
          </p:cNvPr>
          <p:cNvGrpSpPr/>
          <p:nvPr/>
        </p:nvGrpSpPr>
        <p:grpSpPr>
          <a:xfrm>
            <a:off x="10999761" y="1097466"/>
            <a:ext cx="731520" cy="731520"/>
            <a:chOff x="238431" y="4710896"/>
            <a:chExt cx="731520" cy="73152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D9004EB-2160-26F6-B97D-E800861DD9E1}"/>
                </a:ext>
              </a:extLst>
            </p:cNvPr>
            <p:cNvSpPr/>
            <p:nvPr/>
          </p:nvSpPr>
          <p:spPr>
            <a:xfrm>
              <a:off x="238431" y="4710896"/>
              <a:ext cx="731520" cy="73152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E39C6EC-D353-1483-F63F-E851A82B0A9F}"/>
                    </a:ext>
                  </a:extLst>
                </p:cNvPr>
                <p:cNvSpPr txBox="1"/>
                <p:nvPr/>
              </p:nvSpPr>
              <p:spPr>
                <a:xfrm>
                  <a:off x="268334" y="4792717"/>
                  <a:ext cx="679048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</m:oMath>
                    </m:oMathPara>
                  </a14:m>
                  <a:endParaRPr lang="en-US" sz="1600" b="0" dirty="0">
                    <a:solidFill>
                      <a:schemeClr val="bg1"/>
                    </a:solidFill>
                  </a:endParaRPr>
                </a:p>
                <a:p>
                  <a:pPr algn="ctr"/>
                  <a:r>
                    <a:rPr lang="en-US" sz="1600" dirty="0">
                      <a:solidFill>
                        <a:schemeClr val="bg1"/>
                      </a:solidFill>
                    </a:rPr>
                    <a:t>0.654</a:t>
                  </a: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E39C6EC-D353-1483-F63F-E851A82B0A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334" y="4792717"/>
                  <a:ext cx="679048" cy="584775"/>
                </a:xfrm>
                <a:prstGeom prst="rect">
                  <a:avLst/>
                </a:prstGeom>
                <a:blipFill>
                  <a:blip r:embed="rId8"/>
                  <a:stretch>
                    <a:fillRect l="-2679" r="-1786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E5A4C5D-2292-985B-6D8B-958A0359018D}"/>
              </a:ext>
            </a:extLst>
          </p:cNvPr>
          <p:cNvGrpSpPr/>
          <p:nvPr/>
        </p:nvGrpSpPr>
        <p:grpSpPr>
          <a:xfrm>
            <a:off x="7250430" y="1089018"/>
            <a:ext cx="731520" cy="731520"/>
            <a:chOff x="238431" y="4710896"/>
            <a:chExt cx="731520" cy="73152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A602522-7433-6D86-0467-B92E81B50EE7}"/>
                </a:ext>
              </a:extLst>
            </p:cNvPr>
            <p:cNvSpPr/>
            <p:nvPr/>
          </p:nvSpPr>
          <p:spPr>
            <a:xfrm>
              <a:off x="238431" y="4710896"/>
              <a:ext cx="731520" cy="73152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378D9093-538A-4FE2-8BB9-BC9A3A4F187C}"/>
                    </a:ext>
                  </a:extLst>
                </p:cNvPr>
                <p:cNvSpPr txBox="1"/>
                <p:nvPr/>
              </p:nvSpPr>
              <p:spPr>
                <a:xfrm>
                  <a:off x="268334" y="4792717"/>
                  <a:ext cx="679048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</m:oMath>
                    </m:oMathPara>
                  </a14:m>
                  <a:endParaRPr lang="en-US" sz="1600" b="0" dirty="0">
                    <a:solidFill>
                      <a:schemeClr val="bg1"/>
                    </a:solidFill>
                  </a:endParaRPr>
                </a:p>
                <a:p>
                  <a:pPr algn="ctr"/>
                  <a:r>
                    <a:rPr lang="en-US" sz="1600" dirty="0">
                      <a:solidFill>
                        <a:schemeClr val="bg1"/>
                      </a:solidFill>
                    </a:rPr>
                    <a:t>0.677</a:t>
                  </a: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378D9093-538A-4FE2-8BB9-BC9A3A4F18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334" y="4792717"/>
                  <a:ext cx="679048" cy="584775"/>
                </a:xfrm>
                <a:prstGeom prst="rect">
                  <a:avLst/>
                </a:prstGeom>
                <a:blipFill>
                  <a:blip r:embed="rId9"/>
                  <a:stretch>
                    <a:fillRect l="-2703" r="-2703" b="-1368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28794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ustom 12">
      <a:dk1>
        <a:srgbClr val="134770"/>
      </a:dk1>
      <a:lt1>
        <a:srgbClr val="134770"/>
      </a:lt1>
      <a:dk2>
        <a:srgbClr val="134770"/>
      </a:dk2>
      <a:lt2>
        <a:srgbClr val="134770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3654</TotalTime>
  <Words>354</Words>
  <Application>Microsoft Office PowerPoint</Application>
  <PresentationFormat>Widescreen</PresentationFormat>
  <Paragraphs>70</Paragraphs>
  <Slides>23</Slides>
  <Notes>5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Cambria Math</vt:lpstr>
      <vt:lpstr>Tw Cen MT</vt:lpstr>
      <vt:lpstr>Circuit</vt:lpstr>
      <vt:lpstr>PowerPoint Presentation</vt:lpstr>
      <vt:lpstr>Data Description</vt:lpstr>
      <vt:lpstr>Data Description – July 2015</vt:lpstr>
      <vt:lpstr>Autoencoder Basics</vt:lpstr>
      <vt:lpstr>Full autoencoder model</vt:lpstr>
      <vt:lpstr>Preserving Support</vt:lpstr>
      <vt:lpstr>Likelihood</vt:lpstr>
      <vt:lpstr>Network Connections</vt:lpstr>
      <vt:lpstr>Network Connections</vt:lpstr>
      <vt:lpstr>Spatial Basis Functions</vt:lpstr>
      <vt:lpstr>Spatially Smoothed Weights</vt:lpstr>
      <vt:lpstr>MCMC Sampling</vt:lpstr>
      <vt:lpstr>Constraints for Identifiability and interpretability</vt:lpstr>
      <vt:lpstr>PowerPoint Presentation</vt:lpstr>
      <vt:lpstr>Consensus Features</vt:lpstr>
      <vt:lpstr>Measuring Contribution</vt:lpstr>
      <vt:lpstr>difference between techniques</vt:lpstr>
      <vt:lpstr>Uncertainty Quantifications</vt:lpstr>
      <vt:lpstr>Summary </vt:lpstr>
      <vt:lpstr>Questions</vt:lpstr>
      <vt:lpstr>PowerPoint Presentation</vt:lpstr>
      <vt:lpstr>Uncertainty Quantifications</vt:lpstr>
      <vt:lpstr>difference between techniques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Jacob Johnson</dc:creator>
  <cp:lastModifiedBy>Jacob A Johnson</cp:lastModifiedBy>
  <cp:revision>73</cp:revision>
  <dcterms:created xsi:type="dcterms:W3CDTF">2023-02-14T22:53:48Z</dcterms:created>
  <dcterms:modified xsi:type="dcterms:W3CDTF">2026-10-14T20:36:17Z</dcterms:modified>
</cp:coreProperties>
</file>